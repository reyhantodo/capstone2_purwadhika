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C256B1-3D36-B7C0-C6F2-E9F41007C7AA}" name="Reyhan Todo Noer Yamin" initials="RY" userId="8addb2d463efd72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4_0.xml><?xml version="1.0" encoding="utf-8"?>
<p188:cmLst xmlns:a="http://schemas.openxmlformats.org/drawingml/2006/main" xmlns:r="http://schemas.openxmlformats.org/officeDocument/2006/relationships" xmlns:p188="http://schemas.microsoft.com/office/powerpoint/2018/8/main">
  <p188:cm id="{3EB207C4-0402-4201-9CA1-99729F6B4B19}" authorId="{67C256B1-3D36-B7C0-C6F2-E9F41007C7AA}" created="2026-06-13T03:39:16.628">
    <pc:sldMkLst xmlns:pc="http://schemas.microsoft.com/office/powerpoint/2013/main/command">
      <pc:docMk/>
      <pc:sldMk cId="0" sldId="260"/>
    </pc:sldMkLst>
    <p188:txBody>
      <a:bodyPr/>
      <a:lstStyle/>
      <a:p>
        <a:r>
          <a:rPr lang="en-US"/>
          <a:t>0   ACCIDENT_NO         60215 non-null  object        
 1   ACCIDENT_DATE       60215 non-null  datetime64[ns]
 2   ACCIDENT_TIME       60215 non-null  object        
 3   ACCIDENT_TYPE       60215 non-null  int64         
 4   ACCIDENT_TYPE_DESC  60215 non-null  object        
 5   DAY_OF_WEEK         60215 non-null  int64         
 6   DAY_WEEK_DESC       60215 non-null  object        
 7   DCA_CODE            60215 non-null  int64         
 8   DCA_DESC            60215 non-null  object        
 9   LIGHT_CONDITION     60215 non-null  int64         
 10  NODE_ID             60215 non-null  int64         
 11  ROAD_GEOMETRY_DESC  60215 non-null  object        
 12  SEVERITY            60215 non-null  int64         
 13  SPEED_ZONE          60215 non-null  int64         
 14  RMA                 60215 non-null  object        
 15  ROAD_NAME           60215 non-null  object        
 16  LGA_NAME            60215 non-null  object        
 17  LATITUDE            60215 non-null  float64       
 18  LONGITUDE           60215 non-null  float64       
 19  YEAR                60215 non-null  int32         
 20  MONTH               60215 non-null  int32         
 21  MONTH_NAME          60215 non-null  object        
 22  HOUR                60215 non-null  int32         
 23  TIME_PERIOD         60215 non-null  object        
 24  DAY_TYPE            60215 non-null  object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042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capstone project and the purpose of the dashboard: converting raw crash data into actionable road-safety insights.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justify the project. The goal is not only visualization but road safety decision support.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analytical structure that guides the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the presentation uses the final cleaned/merged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all final columns were understood before 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severity and light condition code interpretation is critical.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actual notebook cleaning process in a sequence.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clean data status and why categorical methods were more meaningful.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audience an overview of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Temporal insights are usually easy for stakeholders to understand.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Cause overview combines DCA, RMA and speed-zone relationships.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heatmaps show relationships more clearly than simple totals.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is the most practical output for location-based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explain how to defend the analytical method.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recommendation to prior dashboard findings.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practical value of the dashboard and future improvement opportunities.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CAB2-0BF1-2F7D-9766-49905AA73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79337-31EF-FD79-8A0F-1AFE01200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36AE7-3A10-54CE-FE8B-6F32A706823C}"/>
              </a:ext>
            </a:extLst>
          </p:cNvPr>
          <p:cNvSpPr>
            <a:spLocks noGrp="1"/>
          </p:cNvSpPr>
          <p:nvPr>
            <p:ph type="body" idx="1"/>
          </p:nvPr>
        </p:nvSpPr>
        <p:spPr/>
        <p:txBody>
          <a:bodyPr/>
          <a:lstStyle/>
          <a:p>
            <a:r>
              <a:rPr lang="en-US" dirty="0"/>
              <a:t>The map is the most practical output for location-based recommendations.</a:t>
            </a:r>
          </a:p>
        </p:txBody>
      </p:sp>
      <p:sp>
        <p:nvSpPr>
          <p:cNvPr id="4" name="Slide Number Placeholder 3">
            <a:extLst>
              <a:ext uri="{FF2B5EF4-FFF2-40B4-BE49-F238E27FC236}">
                <a16:creationId xmlns:a16="http://schemas.microsoft.com/office/drawing/2014/main" id="{F2A20B4C-99E1-A0CF-FF9F-7ACCC469A5E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31299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presentation.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791301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30141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02642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85387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33600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319492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1236769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7277091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115911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4024627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41057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099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6/20/2026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56735261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reyhantodo/Capstone2_Purwadhika"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3232" y="1072134"/>
            <a:ext cx="6492240" cy="960120"/>
          </a:xfrm>
          <a:prstGeom prst="rect">
            <a:avLst/>
          </a:prstGeom>
          <a:noFill/>
          <a:ln/>
        </p:spPr>
        <p:txBody>
          <a:bodyPr wrap="square" lIns="0" tIns="0" rIns="0" bIns="0" rtlCol="0" anchor="ctr">
            <a:normAutofit fontScale="85000" lnSpcReduction="20000"/>
          </a:bodyPr>
          <a:lstStyle/>
          <a:p>
            <a:pPr marL="0" indent="0">
              <a:buNone/>
            </a:pPr>
            <a:r>
              <a:rPr lang="en-US" sz="4400" b="1" dirty="0"/>
              <a:t>Victoria Crash Data</a:t>
            </a:r>
            <a:endParaRPr lang="en-US" sz="4400" dirty="0"/>
          </a:p>
          <a:p>
            <a:pPr marL="0" indent="0">
              <a:buNone/>
            </a:pPr>
            <a:r>
              <a:rPr lang="en-US" sz="4400" b="1" dirty="0"/>
              <a:t>Dashboard</a:t>
            </a:r>
            <a:endParaRPr lang="en-US" sz="4400" dirty="0"/>
          </a:p>
        </p:txBody>
      </p:sp>
      <p:sp>
        <p:nvSpPr>
          <p:cNvPr id="3" name="Text 1"/>
          <p:cNvSpPr/>
          <p:nvPr/>
        </p:nvSpPr>
        <p:spPr>
          <a:xfrm>
            <a:off x="713232" y="2256694"/>
            <a:ext cx="6583680" cy="367634"/>
          </a:xfrm>
          <a:prstGeom prst="rect">
            <a:avLst/>
          </a:prstGeom>
          <a:noFill/>
          <a:ln/>
        </p:spPr>
        <p:txBody>
          <a:bodyPr wrap="square" lIns="0" tIns="0" rIns="0" bIns="0" rtlCol="0" anchor="ctr"/>
          <a:lstStyle/>
          <a:p>
            <a:pPr marL="0" indent="0">
              <a:buNone/>
            </a:pPr>
            <a:r>
              <a:rPr lang="en-US" sz="1800" dirty="0"/>
              <a:t>2019–2023 | Capstone 2 Project Presentation</a:t>
            </a:r>
          </a:p>
          <a:p>
            <a:r>
              <a:rPr lang="en-US" dirty="0">
                <a:hlinkClick r:id="rId3"/>
              </a:rPr>
              <a:t>https://github.com/reyhantodo/Capstone2_Purwadhika</a:t>
            </a:r>
            <a:endParaRPr lang="en-US" sz="1800" dirty="0"/>
          </a:p>
        </p:txBody>
      </p:sp>
      <p:sp>
        <p:nvSpPr>
          <p:cNvPr id="4" name="Shape 2"/>
          <p:cNvSpPr/>
          <p:nvPr/>
        </p:nvSpPr>
        <p:spPr>
          <a:xfrm>
            <a:off x="713232" y="2816352"/>
            <a:ext cx="1417320" cy="0"/>
          </a:xfrm>
          <a:prstGeom prst="line">
            <a:avLst/>
          </a:prstGeom>
          <a:noFill/>
          <a:ln w="17780">
            <a:solidFill>
              <a:srgbClr val="8EC8C5"/>
            </a:solidFill>
            <a:prstDash val="solid"/>
          </a:ln>
        </p:spPr>
        <p:txBody>
          <a:bodyPr/>
          <a:lstStyle/>
          <a:p>
            <a:endParaRPr lang="en-US"/>
          </a:p>
        </p:txBody>
      </p:sp>
      <p:sp>
        <p:nvSpPr>
          <p:cNvPr id="5" name="Text 3"/>
          <p:cNvSpPr/>
          <p:nvPr/>
        </p:nvSpPr>
        <p:spPr>
          <a:xfrm>
            <a:off x="713232" y="3154680"/>
            <a:ext cx="6126480" cy="731520"/>
          </a:xfrm>
          <a:prstGeom prst="rect">
            <a:avLst/>
          </a:prstGeom>
          <a:noFill/>
          <a:ln/>
        </p:spPr>
        <p:txBody>
          <a:bodyPr wrap="square" lIns="0" tIns="0" rIns="0" bIns="0" rtlCol="0" anchor="t">
            <a:normAutofit/>
          </a:bodyPr>
          <a:lstStyle/>
          <a:p>
            <a:pPr marL="0" indent="0" algn="l">
              <a:buNone/>
            </a:pPr>
            <a:r>
              <a:rPr lang="en-US" sz="1500" dirty="0"/>
              <a:t>A road-safety analytics project using Python and Power BI to identify crash timing patterns, severity relationships, accident causes, and location hotspots across Victoria.</a:t>
            </a:r>
          </a:p>
        </p:txBody>
      </p:sp>
      <p:sp>
        <p:nvSpPr>
          <p:cNvPr id="6" name="Text 4"/>
          <p:cNvSpPr/>
          <p:nvPr/>
        </p:nvSpPr>
        <p:spPr>
          <a:xfrm>
            <a:off x="713232" y="5806440"/>
            <a:ext cx="3291840" cy="228600"/>
          </a:xfrm>
          <a:prstGeom prst="rect">
            <a:avLst/>
          </a:prstGeom>
          <a:noFill/>
          <a:ln/>
        </p:spPr>
        <p:txBody>
          <a:bodyPr wrap="square" lIns="0" tIns="0" rIns="0" bIns="0" rtlCol="0" anchor="ctr"/>
          <a:lstStyle/>
          <a:p>
            <a:pPr marL="0" indent="0">
              <a:buNone/>
            </a:pPr>
            <a:r>
              <a:rPr lang="en-US" sz="1400" b="1" dirty="0"/>
              <a:t>Reyhan Todo</a:t>
            </a:r>
            <a:endParaRPr lang="en-US" sz="1400" dirty="0"/>
          </a:p>
        </p:txBody>
      </p:sp>
      <p:sp>
        <p:nvSpPr>
          <p:cNvPr id="7" name="Text 5"/>
          <p:cNvSpPr/>
          <p:nvPr/>
        </p:nvSpPr>
        <p:spPr>
          <a:xfrm>
            <a:off x="713232" y="6108192"/>
            <a:ext cx="3840480" cy="228600"/>
          </a:xfrm>
          <a:prstGeom prst="rect">
            <a:avLst/>
          </a:prstGeom>
          <a:noFill/>
          <a:ln/>
        </p:spPr>
        <p:txBody>
          <a:bodyPr wrap="square" lIns="0" tIns="0" rIns="0" bIns="0" rtlCol="0" anchor="t">
            <a:normAutofit/>
          </a:bodyPr>
          <a:lstStyle/>
          <a:p>
            <a:pPr marL="0" indent="0" algn="l">
              <a:buNone/>
            </a:pPr>
            <a:r>
              <a:rPr lang="en-US" sz="1050" dirty="0"/>
              <a:t>Purwadhika Digital Technology School</a:t>
            </a:r>
          </a:p>
        </p:txBody>
      </p:sp>
      <p:pic>
        <p:nvPicPr>
          <p:cNvPr id="11" name="Picture 10">
            <a:extLst>
              <a:ext uri="{FF2B5EF4-FFF2-40B4-BE49-F238E27FC236}">
                <a16:creationId xmlns:a16="http://schemas.microsoft.com/office/drawing/2014/main" id="{EF180321-4786-5F2A-8CCC-92A4C80DAC97}"/>
              </a:ext>
            </a:extLst>
          </p:cNvPr>
          <p:cNvPicPr>
            <a:picLocks noChangeAspect="1"/>
          </p:cNvPicPr>
          <p:nvPr/>
        </p:nvPicPr>
        <p:blipFill>
          <a:blip r:embed="rId4"/>
          <a:stretch>
            <a:fillRect/>
          </a:stretch>
        </p:blipFill>
        <p:spPr>
          <a:xfrm>
            <a:off x="7600629" y="236103"/>
            <a:ext cx="4285106" cy="65924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Background &amp; Problem Context</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02</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594360" y="1078991"/>
            <a:ext cx="10972800" cy="853949"/>
          </a:xfrm>
          <a:prstGeom prst="rect">
            <a:avLst/>
          </a:prstGeom>
          <a:noFill/>
          <a:ln/>
        </p:spPr>
        <p:txBody>
          <a:bodyPr wrap="square" lIns="0" tIns="0" rIns="0" bIns="0" rtlCol="0" anchor="ctr">
            <a:normAutofit/>
          </a:bodyPr>
          <a:lstStyle/>
          <a:p>
            <a:pPr marL="0" indent="0">
              <a:buNone/>
            </a:pPr>
            <a:r>
              <a:rPr lang="en-US" sz="1900" b="1" dirty="0">
                <a:solidFill>
                  <a:srgbClr val="262637"/>
                </a:solidFill>
              </a:rPr>
              <a:t>Road trauma is a measurable public-safety issue, and Australia/Victoria both have formal targets to reduce deaths and serious injuries.</a:t>
            </a:r>
            <a:endParaRPr lang="en-US" sz="1900" dirty="0"/>
          </a:p>
        </p:txBody>
      </p:sp>
      <p:sp>
        <p:nvSpPr>
          <p:cNvPr id="7" name="Text 5"/>
          <p:cNvSpPr/>
          <p:nvPr/>
        </p:nvSpPr>
        <p:spPr>
          <a:xfrm>
            <a:off x="731520" y="2635250"/>
            <a:ext cx="3291840" cy="274320"/>
          </a:xfrm>
          <a:prstGeom prst="rect">
            <a:avLst/>
          </a:prstGeom>
          <a:noFill/>
          <a:ln/>
        </p:spPr>
        <p:txBody>
          <a:bodyPr wrap="square" lIns="0" tIns="0" rIns="0" bIns="0" rtlCol="0" anchor="ctr">
            <a:normAutofit/>
          </a:bodyPr>
          <a:lstStyle/>
          <a:p>
            <a:pPr marL="0" indent="0">
              <a:buNone/>
            </a:pPr>
            <a:r>
              <a:rPr lang="en-US" sz="1500" b="1" dirty="0">
                <a:solidFill>
                  <a:srgbClr val="7160B8"/>
                </a:solidFill>
              </a:rPr>
              <a:t>National target</a:t>
            </a:r>
            <a:endParaRPr lang="en-US" sz="1500" dirty="0"/>
          </a:p>
        </p:txBody>
      </p:sp>
      <p:sp>
        <p:nvSpPr>
          <p:cNvPr id="8" name="Text 6"/>
          <p:cNvSpPr/>
          <p:nvPr/>
        </p:nvSpPr>
        <p:spPr>
          <a:xfrm>
            <a:off x="731520" y="3046730"/>
            <a:ext cx="3291840" cy="960120"/>
          </a:xfrm>
          <a:prstGeom prst="rect">
            <a:avLst/>
          </a:prstGeom>
          <a:noFill/>
          <a:ln/>
        </p:spPr>
        <p:txBody>
          <a:bodyPr wrap="square" lIns="0" tIns="0" rIns="0" bIns="0" rtlCol="0" anchor="t">
            <a:normAutofit/>
          </a:bodyPr>
          <a:lstStyle/>
          <a:p>
            <a:pPr marL="0" indent="0" algn="l">
              <a:buNone/>
            </a:pPr>
            <a:r>
              <a:rPr lang="en-US" sz="1240" dirty="0">
                <a:solidFill>
                  <a:srgbClr val="5F6070"/>
                </a:solidFill>
              </a:rPr>
              <a:t>National Road Safety Strategy 2021–2030 targets at least a 50% reduction in fatalities and 30% reduction in serious injuries by 2030.</a:t>
            </a:r>
            <a:endParaRPr lang="en-US" sz="1240" dirty="0"/>
          </a:p>
        </p:txBody>
      </p:sp>
      <p:sp>
        <p:nvSpPr>
          <p:cNvPr id="9" name="Shape 7"/>
          <p:cNvSpPr/>
          <p:nvPr/>
        </p:nvSpPr>
        <p:spPr>
          <a:xfrm>
            <a:off x="731520" y="4180586"/>
            <a:ext cx="2971800" cy="0"/>
          </a:xfrm>
          <a:prstGeom prst="line">
            <a:avLst/>
          </a:prstGeom>
          <a:noFill/>
          <a:ln w="17780">
            <a:solidFill>
              <a:srgbClr val="7160B8"/>
            </a:solidFill>
            <a:prstDash val="solid"/>
          </a:ln>
        </p:spPr>
        <p:txBody>
          <a:bodyPr/>
          <a:lstStyle/>
          <a:p>
            <a:endParaRPr lang="en-US"/>
          </a:p>
        </p:txBody>
      </p:sp>
      <p:sp>
        <p:nvSpPr>
          <p:cNvPr id="10" name="Text 8"/>
          <p:cNvSpPr/>
          <p:nvPr/>
        </p:nvSpPr>
        <p:spPr>
          <a:xfrm>
            <a:off x="4526280" y="2635250"/>
            <a:ext cx="329184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Victorian target</a:t>
            </a:r>
            <a:endParaRPr lang="en-US" sz="1500" dirty="0"/>
          </a:p>
        </p:txBody>
      </p:sp>
      <p:sp>
        <p:nvSpPr>
          <p:cNvPr id="11" name="Text 9"/>
          <p:cNvSpPr/>
          <p:nvPr/>
        </p:nvSpPr>
        <p:spPr>
          <a:xfrm>
            <a:off x="4526280" y="3046730"/>
            <a:ext cx="3291840" cy="960120"/>
          </a:xfrm>
          <a:prstGeom prst="rect">
            <a:avLst/>
          </a:prstGeom>
          <a:noFill/>
          <a:ln/>
        </p:spPr>
        <p:txBody>
          <a:bodyPr wrap="square" lIns="0" tIns="0" rIns="0" bIns="0" rtlCol="0" anchor="t">
            <a:normAutofit/>
          </a:bodyPr>
          <a:lstStyle/>
          <a:p>
            <a:pPr marL="0" indent="0" algn="l">
              <a:buNone/>
            </a:pPr>
            <a:r>
              <a:rPr lang="en-US" sz="1240" dirty="0">
                <a:solidFill>
                  <a:srgbClr val="5F6070"/>
                </a:solidFill>
              </a:rPr>
              <a:t>Victorian Road Safety Strategy 2021–2030 aims to halve road deaths and progressively reduce serious injuries by 2030.</a:t>
            </a:r>
            <a:endParaRPr lang="en-US" sz="1240" dirty="0"/>
          </a:p>
        </p:txBody>
      </p:sp>
      <p:sp>
        <p:nvSpPr>
          <p:cNvPr id="12" name="Shape 10"/>
          <p:cNvSpPr/>
          <p:nvPr/>
        </p:nvSpPr>
        <p:spPr>
          <a:xfrm>
            <a:off x="4526280" y="4180586"/>
            <a:ext cx="2971800" cy="0"/>
          </a:xfrm>
          <a:prstGeom prst="line">
            <a:avLst/>
          </a:prstGeom>
          <a:noFill/>
          <a:ln w="17780">
            <a:solidFill>
              <a:srgbClr val="8EC8C5"/>
            </a:solidFill>
            <a:prstDash val="solid"/>
          </a:ln>
        </p:spPr>
        <p:txBody>
          <a:bodyPr/>
          <a:lstStyle/>
          <a:p>
            <a:endParaRPr lang="en-US"/>
          </a:p>
        </p:txBody>
      </p:sp>
      <p:sp>
        <p:nvSpPr>
          <p:cNvPr id="13" name="Text 11"/>
          <p:cNvSpPr/>
          <p:nvPr/>
        </p:nvSpPr>
        <p:spPr>
          <a:xfrm>
            <a:off x="8321040" y="2635250"/>
            <a:ext cx="3291840" cy="274320"/>
          </a:xfrm>
          <a:prstGeom prst="rect">
            <a:avLst/>
          </a:prstGeom>
          <a:noFill/>
          <a:ln/>
        </p:spPr>
        <p:txBody>
          <a:bodyPr wrap="square" lIns="0" tIns="0" rIns="0" bIns="0" rtlCol="0" anchor="ctr">
            <a:normAutofit/>
          </a:bodyPr>
          <a:lstStyle/>
          <a:p>
            <a:pPr marL="0" indent="0">
              <a:buNone/>
            </a:pPr>
            <a:r>
              <a:rPr lang="en-US" sz="1500" b="1" dirty="0">
                <a:solidFill>
                  <a:srgbClr val="D49A84"/>
                </a:solidFill>
              </a:rPr>
              <a:t>Open data value</a:t>
            </a:r>
            <a:endParaRPr lang="en-US" sz="1500" dirty="0"/>
          </a:p>
        </p:txBody>
      </p:sp>
      <p:sp>
        <p:nvSpPr>
          <p:cNvPr id="14" name="Text 12"/>
          <p:cNvSpPr/>
          <p:nvPr/>
        </p:nvSpPr>
        <p:spPr>
          <a:xfrm>
            <a:off x="8321040" y="3046730"/>
            <a:ext cx="3291840" cy="960120"/>
          </a:xfrm>
          <a:prstGeom prst="rect">
            <a:avLst/>
          </a:prstGeom>
          <a:noFill/>
          <a:ln/>
        </p:spPr>
        <p:txBody>
          <a:bodyPr wrap="square" lIns="0" tIns="0" rIns="0" bIns="0" rtlCol="0" anchor="t">
            <a:normAutofit/>
          </a:bodyPr>
          <a:lstStyle/>
          <a:p>
            <a:pPr marL="0" indent="0" algn="l">
              <a:buNone/>
            </a:pPr>
            <a:r>
              <a:rPr lang="en-US" sz="1240" dirty="0">
                <a:solidFill>
                  <a:srgbClr val="5F6070"/>
                </a:solidFill>
              </a:rPr>
              <a:t>Transport Victoria crash data is consolidated from Victoria Police reports and hospital injury information, then validated and enriched with time, location, conditions and crash type.</a:t>
            </a:r>
            <a:endParaRPr lang="en-US" sz="1240" dirty="0"/>
          </a:p>
        </p:txBody>
      </p:sp>
      <p:sp>
        <p:nvSpPr>
          <p:cNvPr id="15" name="Shape 13"/>
          <p:cNvSpPr/>
          <p:nvPr/>
        </p:nvSpPr>
        <p:spPr>
          <a:xfrm>
            <a:off x="8321040" y="4180586"/>
            <a:ext cx="2971800" cy="0"/>
          </a:xfrm>
          <a:prstGeom prst="line">
            <a:avLst/>
          </a:prstGeom>
          <a:noFill/>
          <a:ln w="17780">
            <a:solidFill>
              <a:srgbClr val="D49A84"/>
            </a:solidFill>
            <a:prstDash val="solid"/>
          </a:ln>
        </p:spPr>
        <p:txBody>
          <a:bodyPr/>
          <a:lstStyle/>
          <a:p>
            <a:endParaRPr lang="en-US"/>
          </a:p>
        </p:txBody>
      </p:sp>
      <p:sp>
        <p:nvSpPr>
          <p:cNvPr id="18" name="Text 16"/>
          <p:cNvSpPr/>
          <p:nvPr/>
        </p:nvSpPr>
        <p:spPr>
          <a:xfrm>
            <a:off x="502920" y="6428232"/>
            <a:ext cx="10515600" cy="274320"/>
          </a:xfrm>
          <a:prstGeom prst="rect">
            <a:avLst/>
          </a:prstGeom>
          <a:noFill/>
          <a:ln/>
        </p:spPr>
        <p:txBody>
          <a:bodyPr wrap="square" lIns="0" tIns="0" rIns="0" bIns="0" rtlCol="0" anchor="ctr"/>
          <a:lstStyle/>
          <a:p>
            <a:pPr marL="0" indent="0">
              <a:buNone/>
            </a:pPr>
            <a:r>
              <a:rPr lang="en-US" sz="900" dirty="0">
                <a:solidFill>
                  <a:srgbClr val="817A8D"/>
                </a:solidFill>
              </a:rPr>
              <a:t>Sources: National Road Safety Strategy 2021–2030; Victorian Road Safety Strategy 2021–2030; Transport Victoria Open Data.</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Project Objective &amp; Analytical Questions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03</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685800" y="1143000"/>
            <a:ext cx="201168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Objective</a:t>
            </a:r>
            <a:endParaRPr lang="en-US" sz="1600" dirty="0"/>
          </a:p>
        </p:txBody>
      </p:sp>
      <p:sp>
        <p:nvSpPr>
          <p:cNvPr id="7" name="Text 5"/>
          <p:cNvSpPr/>
          <p:nvPr/>
        </p:nvSpPr>
        <p:spPr>
          <a:xfrm>
            <a:off x="685800" y="1508760"/>
            <a:ext cx="10789920" cy="502920"/>
          </a:xfrm>
          <a:prstGeom prst="rect">
            <a:avLst/>
          </a:prstGeom>
          <a:noFill/>
          <a:ln/>
        </p:spPr>
        <p:txBody>
          <a:bodyPr wrap="square" lIns="0" tIns="0" rIns="0" bIns="0" rtlCol="0" anchor="t">
            <a:normAutofit lnSpcReduction="10000"/>
          </a:bodyPr>
          <a:lstStyle/>
          <a:p>
            <a:pPr marL="0" indent="0" algn="l">
              <a:buNone/>
            </a:pPr>
            <a:r>
              <a:rPr lang="en-US" sz="1800" dirty="0">
                <a:solidFill>
                  <a:srgbClr val="262637"/>
                </a:solidFill>
              </a:rPr>
              <a:t>Build a cleaned, interactive crash analytics dashboard that explains when, where, how, and how severely crashes occur in Victoria from 2019–2023.</a:t>
            </a:r>
            <a:endParaRPr lang="en-US" sz="1800" dirty="0"/>
          </a:p>
        </p:txBody>
      </p:sp>
      <p:sp>
        <p:nvSpPr>
          <p:cNvPr id="8" name="Text 6"/>
          <p:cNvSpPr/>
          <p:nvPr/>
        </p:nvSpPr>
        <p:spPr>
          <a:xfrm>
            <a:off x="868680" y="2377440"/>
            <a:ext cx="3749040" cy="228600"/>
          </a:xfrm>
          <a:prstGeom prst="rect">
            <a:avLst/>
          </a:prstGeom>
          <a:noFill/>
          <a:ln/>
        </p:spPr>
        <p:txBody>
          <a:bodyPr wrap="square" lIns="0" tIns="0" rIns="0" bIns="0" rtlCol="0" anchor="ctr">
            <a:normAutofit/>
          </a:bodyPr>
          <a:lstStyle/>
          <a:p>
            <a:pPr marL="0" indent="0">
              <a:buNone/>
            </a:pPr>
            <a:r>
              <a:rPr lang="en-US" sz="1320" b="1" dirty="0">
                <a:solidFill>
                  <a:srgbClr val="7160B8"/>
                </a:solidFill>
              </a:rPr>
              <a:t>When do crashes happen?</a:t>
            </a:r>
            <a:endParaRPr lang="en-US" sz="1320" dirty="0"/>
          </a:p>
        </p:txBody>
      </p:sp>
      <p:sp>
        <p:nvSpPr>
          <p:cNvPr id="9" name="Text 7"/>
          <p:cNvSpPr/>
          <p:nvPr/>
        </p:nvSpPr>
        <p:spPr>
          <a:xfrm>
            <a:off x="4663440" y="2377440"/>
            <a:ext cx="6675120" cy="228600"/>
          </a:xfrm>
          <a:prstGeom prst="rect">
            <a:avLst/>
          </a:prstGeom>
          <a:noFill/>
          <a:ln/>
        </p:spPr>
        <p:txBody>
          <a:bodyPr wrap="square" lIns="0" tIns="0" rIns="0" bIns="0" rtlCol="0" anchor="t">
            <a:normAutofit/>
          </a:bodyPr>
          <a:lstStyle/>
          <a:p>
            <a:pPr marL="0" indent="0" algn="l">
              <a:buNone/>
            </a:pPr>
            <a:r>
              <a:rPr lang="en-US" sz="1260" dirty="0">
                <a:solidFill>
                  <a:srgbClr val="5F6070"/>
                </a:solidFill>
              </a:rPr>
              <a:t>Hour, time period, day of week, monthly trend, yearly trend</a:t>
            </a:r>
            <a:endParaRPr lang="en-US" sz="1260" dirty="0"/>
          </a:p>
        </p:txBody>
      </p:sp>
      <p:sp>
        <p:nvSpPr>
          <p:cNvPr id="10" name="Shape 8"/>
          <p:cNvSpPr/>
          <p:nvPr/>
        </p:nvSpPr>
        <p:spPr>
          <a:xfrm>
            <a:off x="868680" y="2715768"/>
            <a:ext cx="10332720" cy="0"/>
          </a:xfrm>
          <a:prstGeom prst="line">
            <a:avLst/>
          </a:prstGeom>
          <a:noFill/>
          <a:ln w="17780">
            <a:solidFill>
              <a:srgbClr val="DED8EE"/>
            </a:solidFill>
            <a:prstDash val="solid"/>
          </a:ln>
        </p:spPr>
        <p:txBody>
          <a:bodyPr/>
          <a:lstStyle/>
          <a:p>
            <a:endParaRPr lang="en-US"/>
          </a:p>
        </p:txBody>
      </p:sp>
      <p:sp>
        <p:nvSpPr>
          <p:cNvPr id="11" name="Text 9"/>
          <p:cNvSpPr/>
          <p:nvPr/>
        </p:nvSpPr>
        <p:spPr>
          <a:xfrm>
            <a:off x="868680" y="3035808"/>
            <a:ext cx="3749040" cy="228600"/>
          </a:xfrm>
          <a:prstGeom prst="rect">
            <a:avLst/>
          </a:prstGeom>
          <a:noFill/>
          <a:ln/>
        </p:spPr>
        <p:txBody>
          <a:bodyPr wrap="square" lIns="0" tIns="0" rIns="0" bIns="0" rtlCol="0" anchor="ctr">
            <a:normAutofit/>
          </a:bodyPr>
          <a:lstStyle/>
          <a:p>
            <a:pPr marL="0" indent="0">
              <a:buNone/>
            </a:pPr>
            <a:r>
              <a:rPr lang="en-US" sz="1320" b="1" dirty="0">
                <a:solidFill>
                  <a:srgbClr val="8EC8C5"/>
                </a:solidFill>
              </a:rPr>
              <a:t>What types of crashes dominate?</a:t>
            </a:r>
            <a:endParaRPr lang="en-US" sz="1320" dirty="0"/>
          </a:p>
        </p:txBody>
      </p:sp>
      <p:sp>
        <p:nvSpPr>
          <p:cNvPr id="12" name="Text 10"/>
          <p:cNvSpPr/>
          <p:nvPr/>
        </p:nvSpPr>
        <p:spPr>
          <a:xfrm>
            <a:off x="4663440" y="3035808"/>
            <a:ext cx="6675120" cy="228600"/>
          </a:xfrm>
          <a:prstGeom prst="rect">
            <a:avLst/>
          </a:prstGeom>
          <a:noFill/>
          <a:ln/>
        </p:spPr>
        <p:txBody>
          <a:bodyPr wrap="square" lIns="0" tIns="0" rIns="0" bIns="0" rtlCol="0" anchor="t">
            <a:normAutofit/>
          </a:bodyPr>
          <a:lstStyle/>
          <a:p>
            <a:pPr marL="0" indent="0" algn="l">
              <a:buNone/>
            </a:pPr>
            <a:r>
              <a:rPr lang="en-US" sz="1260" dirty="0">
                <a:solidFill>
                  <a:srgbClr val="5F6070"/>
                </a:solidFill>
              </a:rPr>
              <a:t>DCA description, accident type distribution and speed-zone relationship</a:t>
            </a:r>
            <a:endParaRPr lang="en-US" sz="1260" dirty="0"/>
          </a:p>
        </p:txBody>
      </p:sp>
      <p:sp>
        <p:nvSpPr>
          <p:cNvPr id="13" name="Shape 11"/>
          <p:cNvSpPr/>
          <p:nvPr/>
        </p:nvSpPr>
        <p:spPr>
          <a:xfrm>
            <a:off x="868680" y="3374136"/>
            <a:ext cx="10332720" cy="0"/>
          </a:xfrm>
          <a:prstGeom prst="line">
            <a:avLst/>
          </a:prstGeom>
          <a:noFill/>
          <a:ln w="17780">
            <a:solidFill>
              <a:srgbClr val="DED8EE"/>
            </a:solidFill>
            <a:prstDash val="solid"/>
          </a:ln>
        </p:spPr>
        <p:txBody>
          <a:bodyPr/>
          <a:lstStyle/>
          <a:p>
            <a:endParaRPr lang="en-US"/>
          </a:p>
        </p:txBody>
      </p:sp>
      <p:sp>
        <p:nvSpPr>
          <p:cNvPr id="14" name="Text 12"/>
          <p:cNvSpPr/>
          <p:nvPr/>
        </p:nvSpPr>
        <p:spPr>
          <a:xfrm>
            <a:off x="868680" y="3694176"/>
            <a:ext cx="3749040" cy="228600"/>
          </a:xfrm>
          <a:prstGeom prst="rect">
            <a:avLst/>
          </a:prstGeom>
          <a:noFill/>
          <a:ln/>
        </p:spPr>
        <p:txBody>
          <a:bodyPr wrap="square" lIns="0" tIns="0" rIns="0" bIns="0" rtlCol="0" anchor="ctr">
            <a:normAutofit/>
          </a:bodyPr>
          <a:lstStyle/>
          <a:p>
            <a:pPr marL="0" indent="0">
              <a:buNone/>
            </a:pPr>
            <a:r>
              <a:rPr lang="en-US" sz="1320" b="1" dirty="0">
                <a:solidFill>
                  <a:srgbClr val="7160B8"/>
                </a:solidFill>
              </a:rPr>
              <a:t>Where are the hotspots?</a:t>
            </a:r>
            <a:endParaRPr lang="en-US" sz="1320" dirty="0"/>
          </a:p>
        </p:txBody>
      </p:sp>
      <p:sp>
        <p:nvSpPr>
          <p:cNvPr id="15" name="Text 13"/>
          <p:cNvSpPr/>
          <p:nvPr/>
        </p:nvSpPr>
        <p:spPr>
          <a:xfrm>
            <a:off x="4663440" y="3694176"/>
            <a:ext cx="6675120" cy="228600"/>
          </a:xfrm>
          <a:prstGeom prst="rect">
            <a:avLst/>
          </a:prstGeom>
          <a:noFill/>
          <a:ln/>
        </p:spPr>
        <p:txBody>
          <a:bodyPr wrap="square" lIns="0" tIns="0" rIns="0" bIns="0" rtlCol="0" anchor="t">
            <a:normAutofit/>
          </a:bodyPr>
          <a:lstStyle/>
          <a:p>
            <a:pPr marL="0" indent="0" algn="l">
              <a:buNone/>
            </a:pPr>
            <a:r>
              <a:rPr lang="en-US" sz="1260" dirty="0">
                <a:solidFill>
                  <a:srgbClr val="5F6070"/>
                </a:solidFill>
              </a:rPr>
              <a:t>Node ID, road name, LGA, latitude and longitude mapping</a:t>
            </a:r>
            <a:endParaRPr lang="en-US" sz="1260" dirty="0"/>
          </a:p>
        </p:txBody>
      </p:sp>
      <p:sp>
        <p:nvSpPr>
          <p:cNvPr id="16" name="Shape 14"/>
          <p:cNvSpPr/>
          <p:nvPr/>
        </p:nvSpPr>
        <p:spPr>
          <a:xfrm>
            <a:off x="868680" y="4032504"/>
            <a:ext cx="10332720" cy="0"/>
          </a:xfrm>
          <a:prstGeom prst="line">
            <a:avLst/>
          </a:prstGeom>
          <a:noFill/>
          <a:ln w="17780">
            <a:solidFill>
              <a:srgbClr val="DED8EE"/>
            </a:solidFill>
            <a:prstDash val="solid"/>
          </a:ln>
        </p:spPr>
        <p:txBody>
          <a:bodyPr/>
          <a:lstStyle/>
          <a:p>
            <a:endParaRPr lang="en-US"/>
          </a:p>
        </p:txBody>
      </p:sp>
      <p:sp>
        <p:nvSpPr>
          <p:cNvPr id="17" name="Text 15"/>
          <p:cNvSpPr/>
          <p:nvPr/>
        </p:nvSpPr>
        <p:spPr>
          <a:xfrm>
            <a:off x="868680" y="4352544"/>
            <a:ext cx="3749040" cy="228600"/>
          </a:xfrm>
          <a:prstGeom prst="rect">
            <a:avLst/>
          </a:prstGeom>
          <a:noFill/>
          <a:ln/>
        </p:spPr>
        <p:txBody>
          <a:bodyPr wrap="square" lIns="0" tIns="0" rIns="0" bIns="0" rtlCol="0" anchor="ctr">
            <a:normAutofit/>
          </a:bodyPr>
          <a:lstStyle/>
          <a:p>
            <a:pPr marL="0" indent="0">
              <a:buNone/>
            </a:pPr>
            <a:r>
              <a:rPr lang="en-US" sz="1320" b="1" dirty="0">
                <a:solidFill>
                  <a:srgbClr val="8EC8C5"/>
                </a:solidFill>
              </a:rPr>
              <a:t>Which conditions matter?</a:t>
            </a:r>
            <a:endParaRPr lang="en-US" sz="1320" dirty="0"/>
          </a:p>
        </p:txBody>
      </p:sp>
      <p:sp>
        <p:nvSpPr>
          <p:cNvPr id="18" name="Text 16"/>
          <p:cNvSpPr/>
          <p:nvPr/>
        </p:nvSpPr>
        <p:spPr>
          <a:xfrm>
            <a:off x="4663440" y="4352544"/>
            <a:ext cx="6675120" cy="228600"/>
          </a:xfrm>
          <a:prstGeom prst="rect">
            <a:avLst/>
          </a:prstGeom>
          <a:noFill/>
          <a:ln/>
        </p:spPr>
        <p:txBody>
          <a:bodyPr wrap="square" lIns="0" tIns="0" rIns="0" bIns="0" rtlCol="0" anchor="t">
            <a:normAutofit/>
          </a:bodyPr>
          <a:lstStyle/>
          <a:p>
            <a:pPr marL="0" indent="0" algn="l">
              <a:buNone/>
            </a:pPr>
            <a:r>
              <a:rPr lang="en-US" sz="1260" dirty="0">
                <a:solidFill>
                  <a:srgbClr val="5F6070"/>
                </a:solidFill>
              </a:rPr>
              <a:t>Speed zone, light condition, road geometry, RMA</a:t>
            </a:r>
            <a:endParaRPr lang="en-US" sz="1260" dirty="0"/>
          </a:p>
        </p:txBody>
      </p:sp>
      <p:sp>
        <p:nvSpPr>
          <p:cNvPr id="19" name="Shape 17"/>
          <p:cNvSpPr/>
          <p:nvPr/>
        </p:nvSpPr>
        <p:spPr>
          <a:xfrm>
            <a:off x="868680" y="4690872"/>
            <a:ext cx="10332720" cy="0"/>
          </a:xfrm>
          <a:prstGeom prst="line">
            <a:avLst/>
          </a:prstGeom>
          <a:noFill/>
          <a:ln w="17780">
            <a:solidFill>
              <a:srgbClr val="DED8EE"/>
            </a:solidFill>
            <a:prstDash val="solid"/>
          </a:ln>
        </p:spPr>
        <p:txBody>
          <a:bodyPr/>
          <a:lstStyle/>
          <a:p>
            <a:endParaRPr lang="en-US"/>
          </a:p>
        </p:txBody>
      </p:sp>
      <p:sp>
        <p:nvSpPr>
          <p:cNvPr id="20" name="Text 18"/>
          <p:cNvSpPr/>
          <p:nvPr/>
        </p:nvSpPr>
        <p:spPr>
          <a:xfrm>
            <a:off x="868680" y="5010912"/>
            <a:ext cx="3749040" cy="228600"/>
          </a:xfrm>
          <a:prstGeom prst="rect">
            <a:avLst/>
          </a:prstGeom>
          <a:noFill/>
          <a:ln/>
        </p:spPr>
        <p:txBody>
          <a:bodyPr wrap="square" lIns="0" tIns="0" rIns="0" bIns="0" rtlCol="0" anchor="ctr">
            <a:normAutofit/>
          </a:bodyPr>
          <a:lstStyle/>
          <a:p>
            <a:pPr marL="0" indent="0">
              <a:buNone/>
            </a:pPr>
            <a:r>
              <a:rPr lang="en-US" sz="1320" b="1" dirty="0">
                <a:solidFill>
                  <a:srgbClr val="7160B8"/>
                </a:solidFill>
              </a:rPr>
              <a:t>How serious are outcomes?</a:t>
            </a:r>
            <a:endParaRPr lang="en-US" sz="1320" dirty="0"/>
          </a:p>
        </p:txBody>
      </p:sp>
      <p:sp>
        <p:nvSpPr>
          <p:cNvPr id="21" name="Text 19"/>
          <p:cNvSpPr/>
          <p:nvPr/>
        </p:nvSpPr>
        <p:spPr>
          <a:xfrm>
            <a:off x="4663440" y="5010912"/>
            <a:ext cx="6675120" cy="228600"/>
          </a:xfrm>
          <a:prstGeom prst="rect">
            <a:avLst/>
          </a:prstGeom>
          <a:noFill/>
          <a:ln/>
        </p:spPr>
        <p:txBody>
          <a:bodyPr wrap="square" lIns="0" tIns="0" rIns="0" bIns="0" rtlCol="0" anchor="t">
            <a:normAutofit/>
          </a:bodyPr>
          <a:lstStyle/>
          <a:p>
            <a:pPr marL="0" indent="0" algn="l">
              <a:buNone/>
            </a:pPr>
            <a:r>
              <a:rPr lang="en-US" sz="1260" dirty="0">
                <a:solidFill>
                  <a:srgbClr val="5F6070"/>
                </a:solidFill>
              </a:rPr>
              <a:t>Fatal, serious, other injury and severe accident rate</a:t>
            </a:r>
            <a:endParaRPr lang="en-US" sz="1260" dirty="0"/>
          </a:p>
        </p:txBody>
      </p:sp>
      <p:sp>
        <p:nvSpPr>
          <p:cNvPr id="22" name="Shape 20"/>
          <p:cNvSpPr/>
          <p:nvPr/>
        </p:nvSpPr>
        <p:spPr>
          <a:xfrm>
            <a:off x="868680" y="5349240"/>
            <a:ext cx="10332720" cy="0"/>
          </a:xfrm>
          <a:prstGeom prst="line">
            <a:avLst/>
          </a:prstGeom>
          <a:noFill/>
          <a:ln w="17780">
            <a:solidFill>
              <a:srgbClr val="DED8EE"/>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Dataset Scope &amp; Final Analytical Sample</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04</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1489710" y="1234440"/>
            <a:ext cx="2011680" cy="320040"/>
          </a:xfrm>
          <a:prstGeom prst="rect">
            <a:avLst/>
          </a:prstGeom>
          <a:noFill/>
          <a:ln/>
        </p:spPr>
        <p:txBody>
          <a:bodyPr wrap="square" lIns="0" tIns="0" rIns="0" bIns="0" rtlCol="0" anchor="ctr"/>
          <a:lstStyle/>
          <a:p>
            <a:pPr marL="0" indent="0" algn="ctr">
              <a:buNone/>
            </a:pPr>
            <a:r>
              <a:rPr lang="en-US" sz="2200" b="1" dirty="0">
                <a:solidFill>
                  <a:srgbClr val="7160B8"/>
                </a:solidFill>
              </a:rPr>
              <a:t>60,215</a:t>
            </a:r>
            <a:endParaRPr lang="en-US" sz="2200" dirty="0"/>
          </a:p>
        </p:txBody>
      </p:sp>
      <p:sp>
        <p:nvSpPr>
          <p:cNvPr id="7" name="Text 5"/>
          <p:cNvSpPr/>
          <p:nvPr/>
        </p:nvSpPr>
        <p:spPr>
          <a:xfrm>
            <a:off x="1489710" y="1673352"/>
            <a:ext cx="2011680" cy="201168"/>
          </a:xfrm>
          <a:prstGeom prst="rect">
            <a:avLst/>
          </a:prstGeom>
          <a:noFill/>
          <a:ln/>
        </p:spPr>
        <p:txBody>
          <a:bodyPr wrap="square" lIns="0" tIns="0" rIns="0" bIns="0" rtlCol="0" anchor="ctr"/>
          <a:lstStyle/>
          <a:p>
            <a:pPr marL="0" indent="0" algn="ctr">
              <a:buNone/>
            </a:pPr>
            <a:r>
              <a:rPr lang="en-US" sz="980" dirty="0">
                <a:solidFill>
                  <a:srgbClr val="5F6070"/>
                </a:solidFill>
              </a:rPr>
              <a:t>Final accident records</a:t>
            </a:r>
            <a:endParaRPr lang="en-US" sz="980" dirty="0"/>
          </a:p>
        </p:txBody>
      </p:sp>
      <p:sp>
        <p:nvSpPr>
          <p:cNvPr id="8" name="Shape 6"/>
          <p:cNvSpPr/>
          <p:nvPr/>
        </p:nvSpPr>
        <p:spPr>
          <a:xfrm>
            <a:off x="1626870" y="2039112"/>
            <a:ext cx="1737360" cy="0"/>
          </a:xfrm>
          <a:prstGeom prst="line">
            <a:avLst/>
          </a:prstGeom>
          <a:noFill/>
          <a:ln w="17780">
            <a:solidFill>
              <a:srgbClr val="7160B8"/>
            </a:solidFill>
            <a:prstDash val="solid"/>
          </a:ln>
        </p:spPr>
        <p:txBody>
          <a:bodyPr/>
          <a:lstStyle/>
          <a:p>
            <a:endParaRPr lang="en-US"/>
          </a:p>
        </p:txBody>
      </p:sp>
      <p:sp>
        <p:nvSpPr>
          <p:cNvPr id="9" name="Text 7"/>
          <p:cNvSpPr/>
          <p:nvPr/>
        </p:nvSpPr>
        <p:spPr>
          <a:xfrm>
            <a:off x="3775710" y="1234440"/>
            <a:ext cx="2011680" cy="320040"/>
          </a:xfrm>
          <a:prstGeom prst="rect">
            <a:avLst/>
          </a:prstGeom>
          <a:noFill/>
          <a:ln/>
        </p:spPr>
        <p:txBody>
          <a:bodyPr wrap="square" lIns="0" tIns="0" rIns="0" bIns="0" rtlCol="0" anchor="ctr"/>
          <a:lstStyle/>
          <a:p>
            <a:pPr marL="0" indent="0" algn="ctr">
              <a:buNone/>
            </a:pPr>
            <a:r>
              <a:rPr lang="en-US" sz="2200" b="1" dirty="0">
                <a:solidFill>
                  <a:srgbClr val="8EC8C5"/>
                </a:solidFill>
              </a:rPr>
              <a:t>25</a:t>
            </a:r>
            <a:endParaRPr lang="en-US" sz="2200" dirty="0"/>
          </a:p>
        </p:txBody>
      </p:sp>
      <p:sp>
        <p:nvSpPr>
          <p:cNvPr id="10" name="Text 8"/>
          <p:cNvSpPr/>
          <p:nvPr/>
        </p:nvSpPr>
        <p:spPr>
          <a:xfrm>
            <a:off x="3775710" y="1673352"/>
            <a:ext cx="2011680" cy="201168"/>
          </a:xfrm>
          <a:prstGeom prst="rect">
            <a:avLst/>
          </a:prstGeom>
          <a:noFill/>
          <a:ln/>
        </p:spPr>
        <p:txBody>
          <a:bodyPr wrap="square" lIns="0" tIns="0" rIns="0" bIns="0" rtlCol="0" anchor="ctr"/>
          <a:lstStyle/>
          <a:p>
            <a:pPr marL="0" indent="0" algn="ctr">
              <a:buNone/>
            </a:pPr>
            <a:r>
              <a:rPr lang="en-US" sz="980" dirty="0">
                <a:solidFill>
                  <a:srgbClr val="5F6070"/>
                </a:solidFill>
              </a:rPr>
              <a:t>Columns after preparation</a:t>
            </a:r>
            <a:endParaRPr lang="en-US" sz="980" dirty="0"/>
          </a:p>
        </p:txBody>
      </p:sp>
      <p:sp>
        <p:nvSpPr>
          <p:cNvPr id="11" name="Shape 9"/>
          <p:cNvSpPr/>
          <p:nvPr/>
        </p:nvSpPr>
        <p:spPr>
          <a:xfrm>
            <a:off x="3912870" y="2039112"/>
            <a:ext cx="1737360" cy="0"/>
          </a:xfrm>
          <a:prstGeom prst="line">
            <a:avLst/>
          </a:prstGeom>
          <a:noFill/>
          <a:ln w="17780">
            <a:solidFill>
              <a:srgbClr val="8EC8C5"/>
            </a:solidFill>
            <a:prstDash val="solid"/>
          </a:ln>
        </p:spPr>
        <p:txBody>
          <a:bodyPr/>
          <a:lstStyle/>
          <a:p>
            <a:endParaRPr lang="en-US"/>
          </a:p>
        </p:txBody>
      </p:sp>
      <p:sp>
        <p:nvSpPr>
          <p:cNvPr id="12" name="Text 10"/>
          <p:cNvSpPr/>
          <p:nvPr/>
        </p:nvSpPr>
        <p:spPr>
          <a:xfrm>
            <a:off x="6061710" y="1234440"/>
            <a:ext cx="2011680" cy="320040"/>
          </a:xfrm>
          <a:prstGeom prst="rect">
            <a:avLst/>
          </a:prstGeom>
          <a:noFill/>
          <a:ln/>
        </p:spPr>
        <p:txBody>
          <a:bodyPr wrap="square" lIns="0" tIns="0" rIns="0" bIns="0" rtlCol="0" anchor="ctr"/>
          <a:lstStyle/>
          <a:p>
            <a:pPr marL="0" indent="0" algn="ctr">
              <a:buNone/>
            </a:pPr>
            <a:r>
              <a:rPr lang="en-US" sz="2200" b="1" dirty="0">
                <a:solidFill>
                  <a:srgbClr val="D49A84"/>
                </a:solidFill>
              </a:rPr>
              <a:t>2019–2023</a:t>
            </a:r>
            <a:endParaRPr lang="en-US" sz="2200" dirty="0"/>
          </a:p>
        </p:txBody>
      </p:sp>
      <p:sp>
        <p:nvSpPr>
          <p:cNvPr id="13" name="Text 11"/>
          <p:cNvSpPr/>
          <p:nvPr/>
        </p:nvSpPr>
        <p:spPr>
          <a:xfrm>
            <a:off x="6061710" y="1673352"/>
            <a:ext cx="2011680" cy="201168"/>
          </a:xfrm>
          <a:prstGeom prst="rect">
            <a:avLst/>
          </a:prstGeom>
          <a:noFill/>
          <a:ln/>
        </p:spPr>
        <p:txBody>
          <a:bodyPr wrap="square" lIns="0" tIns="0" rIns="0" bIns="0" rtlCol="0" anchor="ctr"/>
          <a:lstStyle/>
          <a:p>
            <a:pPr marL="0" indent="0" algn="ctr">
              <a:buNone/>
            </a:pPr>
            <a:r>
              <a:rPr lang="en-US" sz="980" dirty="0">
                <a:solidFill>
                  <a:srgbClr val="5F6070"/>
                </a:solidFill>
              </a:rPr>
              <a:t>Analysis period</a:t>
            </a:r>
            <a:endParaRPr lang="en-US" sz="980" dirty="0"/>
          </a:p>
        </p:txBody>
      </p:sp>
      <p:sp>
        <p:nvSpPr>
          <p:cNvPr id="14" name="Shape 12"/>
          <p:cNvSpPr/>
          <p:nvPr/>
        </p:nvSpPr>
        <p:spPr>
          <a:xfrm>
            <a:off x="6198870" y="2039112"/>
            <a:ext cx="1737360" cy="0"/>
          </a:xfrm>
          <a:prstGeom prst="line">
            <a:avLst/>
          </a:prstGeom>
          <a:noFill/>
          <a:ln w="17780">
            <a:solidFill>
              <a:srgbClr val="D49A84"/>
            </a:solidFill>
            <a:prstDash val="solid"/>
          </a:ln>
        </p:spPr>
        <p:txBody>
          <a:bodyPr/>
          <a:lstStyle/>
          <a:p>
            <a:endParaRPr lang="en-US"/>
          </a:p>
        </p:txBody>
      </p:sp>
      <p:sp>
        <p:nvSpPr>
          <p:cNvPr id="15" name="Text 13"/>
          <p:cNvSpPr/>
          <p:nvPr/>
        </p:nvSpPr>
        <p:spPr>
          <a:xfrm>
            <a:off x="8347710" y="1234440"/>
            <a:ext cx="2011680" cy="320040"/>
          </a:xfrm>
          <a:prstGeom prst="rect">
            <a:avLst/>
          </a:prstGeom>
          <a:noFill/>
          <a:ln/>
        </p:spPr>
        <p:txBody>
          <a:bodyPr wrap="square" lIns="0" tIns="0" rIns="0" bIns="0" rtlCol="0" anchor="ctr"/>
          <a:lstStyle/>
          <a:p>
            <a:pPr marL="0" indent="0" algn="ctr">
              <a:buNone/>
            </a:pPr>
            <a:r>
              <a:rPr lang="en-US" sz="2200" b="1" dirty="0">
                <a:solidFill>
                  <a:srgbClr val="17264A"/>
                </a:solidFill>
              </a:rPr>
              <a:t>4</a:t>
            </a:r>
            <a:endParaRPr lang="en-US" sz="2200" dirty="0"/>
          </a:p>
        </p:txBody>
      </p:sp>
      <p:sp>
        <p:nvSpPr>
          <p:cNvPr id="16" name="Text 14"/>
          <p:cNvSpPr/>
          <p:nvPr/>
        </p:nvSpPr>
        <p:spPr>
          <a:xfrm>
            <a:off x="8347710" y="1673352"/>
            <a:ext cx="2011680" cy="201168"/>
          </a:xfrm>
          <a:prstGeom prst="rect">
            <a:avLst/>
          </a:prstGeom>
          <a:noFill/>
          <a:ln/>
        </p:spPr>
        <p:txBody>
          <a:bodyPr wrap="square" lIns="0" tIns="0" rIns="0" bIns="0" rtlCol="0" anchor="ctr"/>
          <a:lstStyle/>
          <a:p>
            <a:pPr marL="0" indent="0" algn="ctr">
              <a:buNone/>
            </a:pPr>
            <a:r>
              <a:rPr lang="en-US" sz="980" dirty="0">
                <a:solidFill>
                  <a:srgbClr val="5F6070"/>
                </a:solidFill>
              </a:rPr>
              <a:t>Power BI dashboard pages</a:t>
            </a:r>
            <a:endParaRPr lang="en-US" sz="980" dirty="0"/>
          </a:p>
        </p:txBody>
      </p:sp>
      <p:sp>
        <p:nvSpPr>
          <p:cNvPr id="17" name="Shape 15"/>
          <p:cNvSpPr/>
          <p:nvPr/>
        </p:nvSpPr>
        <p:spPr>
          <a:xfrm>
            <a:off x="8484870" y="2039112"/>
            <a:ext cx="1737360" cy="0"/>
          </a:xfrm>
          <a:prstGeom prst="line">
            <a:avLst/>
          </a:prstGeom>
          <a:noFill/>
          <a:ln w="17780">
            <a:solidFill>
              <a:srgbClr val="17264A"/>
            </a:solidFill>
            <a:prstDash val="solid"/>
          </a:ln>
        </p:spPr>
        <p:txBody>
          <a:bodyPr/>
          <a:lstStyle/>
          <a:p>
            <a:endParaRPr lang="en-US"/>
          </a:p>
        </p:txBody>
      </p:sp>
      <p:sp>
        <p:nvSpPr>
          <p:cNvPr id="18" name="Text 16"/>
          <p:cNvSpPr/>
          <p:nvPr/>
        </p:nvSpPr>
        <p:spPr>
          <a:xfrm>
            <a:off x="731520" y="2788920"/>
            <a:ext cx="320040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Data sources used</a:t>
            </a:r>
            <a:endParaRPr lang="en-US" sz="1600" dirty="0"/>
          </a:p>
        </p:txBody>
      </p:sp>
      <p:sp>
        <p:nvSpPr>
          <p:cNvPr id="19" name="Text 17"/>
          <p:cNvSpPr/>
          <p:nvPr/>
        </p:nvSpPr>
        <p:spPr>
          <a:xfrm>
            <a:off x="731520" y="3200400"/>
            <a:ext cx="5303520" cy="1508760"/>
          </a:xfrm>
          <a:prstGeom prst="rect">
            <a:avLst/>
          </a:prstGeom>
          <a:noFill/>
          <a:ln/>
        </p:spPr>
        <p:txBody>
          <a:bodyPr wrap="square" lIns="254" tIns="254" rIns="254" bIns="254" rtlCol="0" anchor="t">
            <a:normAutofit/>
          </a:bodyPr>
          <a:lstStyle/>
          <a:p>
            <a:pPr marL="152400" indent="-152400">
              <a:buSzPct val="100000"/>
              <a:buChar char="•"/>
            </a:pPr>
            <a:r>
              <a:rPr lang="en-US" sz="1260" dirty="0">
                <a:solidFill>
                  <a:srgbClr val="262637"/>
                </a:solidFill>
              </a:rPr>
              <a:t>Transport Victoria open crash data: accident identifiers, date/time, severity, DCA category, speed zone, light condition, road geometry and RMA.</a:t>
            </a:r>
            <a:endParaRPr lang="en-US" sz="1260" dirty="0"/>
          </a:p>
          <a:p>
            <a:pPr marL="152400" indent="-152400">
              <a:buSzPct val="100000"/>
              <a:buChar char="•"/>
            </a:pPr>
            <a:r>
              <a:rPr lang="en-US" sz="1260" dirty="0">
                <a:solidFill>
                  <a:srgbClr val="262637"/>
                </a:solidFill>
              </a:rPr>
              <a:t>Detailed location dataset: ROAD_NAME, LGA_NAME, LATITUDE and LONGITUDE.</a:t>
            </a:r>
            <a:endParaRPr lang="en-US" sz="1260" dirty="0"/>
          </a:p>
          <a:p>
            <a:pPr marL="152400" indent="-152400">
              <a:buSzPct val="100000"/>
              <a:buChar char="•"/>
            </a:pPr>
            <a:r>
              <a:rPr lang="en-US" sz="1260" dirty="0">
                <a:solidFill>
                  <a:srgbClr val="262637"/>
                </a:solidFill>
              </a:rPr>
              <a:t>Derived fields from the notebook: YEAR, MONTH, MONTH_NAME, HOUR, TIME_PERIOD and DAY_TYPE.</a:t>
            </a:r>
            <a:endParaRPr lang="en-US" sz="1260" dirty="0"/>
          </a:p>
        </p:txBody>
      </p:sp>
      <p:sp>
        <p:nvSpPr>
          <p:cNvPr id="20" name="Text 18"/>
          <p:cNvSpPr/>
          <p:nvPr/>
        </p:nvSpPr>
        <p:spPr>
          <a:xfrm>
            <a:off x="6446520" y="2788920"/>
            <a:ext cx="274320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Scope decision</a:t>
            </a:r>
            <a:endParaRPr lang="en-US" sz="1600" dirty="0"/>
          </a:p>
        </p:txBody>
      </p:sp>
      <p:sp>
        <p:nvSpPr>
          <p:cNvPr id="21" name="Text 19"/>
          <p:cNvSpPr/>
          <p:nvPr/>
        </p:nvSpPr>
        <p:spPr>
          <a:xfrm>
            <a:off x="6446520" y="3200400"/>
            <a:ext cx="4937760" cy="914400"/>
          </a:xfrm>
          <a:prstGeom prst="rect">
            <a:avLst/>
          </a:prstGeom>
          <a:noFill/>
          <a:ln/>
        </p:spPr>
        <p:txBody>
          <a:bodyPr wrap="square" lIns="0" tIns="0" rIns="0" bIns="0" rtlCol="0" anchor="t">
            <a:normAutofit/>
          </a:bodyPr>
          <a:lstStyle/>
          <a:p>
            <a:pPr marL="0" indent="0" algn="l">
              <a:buNone/>
            </a:pPr>
            <a:r>
              <a:rPr lang="en-US" sz="1280" dirty="0">
                <a:solidFill>
                  <a:srgbClr val="5F6070"/>
                </a:solidFill>
              </a:rPr>
              <a:t>The analysis was simplified to 2019–2023 to keep the project manageable while still covering a multi-year period. The final file was imported into Power BI after validation and location enrichment.</a:t>
            </a:r>
            <a:endParaRPr lang="en-US" sz="1280" dirty="0"/>
          </a:p>
        </p:txBody>
      </p:sp>
      <p:sp>
        <p:nvSpPr>
          <p:cNvPr id="22" name="Text 20"/>
          <p:cNvSpPr/>
          <p:nvPr/>
        </p:nvSpPr>
        <p:spPr>
          <a:xfrm>
            <a:off x="502920" y="6273800"/>
            <a:ext cx="10515600" cy="428752"/>
          </a:xfrm>
          <a:prstGeom prst="rect">
            <a:avLst/>
          </a:prstGeom>
          <a:noFill/>
          <a:ln/>
        </p:spPr>
        <p:txBody>
          <a:bodyPr wrap="square" lIns="0" tIns="0" rIns="0" bIns="0" rtlCol="0" anchor="ctr"/>
          <a:lstStyle/>
          <a:p>
            <a:pPr marL="0" indent="0">
              <a:buNone/>
            </a:pPr>
            <a:r>
              <a:rPr lang="en-US" sz="1050" dirty="0">
                <a:solidFill>
                  <a:srgbClr val="817A8D"/>
                </a:solidFill>
              </a:rPr>
              <a:t>Sources: Transport Victoria Open Data</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Data Understanding: Final Columns Used</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05</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594360" y="987552"/>
            <a:ext cx="10789920" cy="256032"/>
          </a:xfrm>
          <a:prstGeom prst="rect">
            <a:avLst/>
          </a:prstGeom>
          <a:noFill/>
          <a:ln/>
        </p:spPr>
        <p:txBody>
          <a:bodyPr wrap="square" lIns="0" tIns="0" rIns="0" bIns="0" rtlCol="0" anchor="t">
            <a:normAutofit/>
          </a:bodyPr>
          <a:lstStyle/>
          <a:p>
            <a:pPr marL="0" indent="0" algn="l">
              <a:buNone/>
            </a:pPr>
            <a:r>
              <a:rPr lang="en-US" sz="1400" dirty="0">
                <a:solidFill>
                  <a:srgbClr val="5F6070"/>
                </a:solidFill>
              </a:rPr>
              <a:t>The final dataset combines official crash attributes with derived dashboard fields.</a:t>
            </a:r>
            <a:endParaRPr lang="en-US" sz="1400" dirty="0"/>
          </a:p>
        </p:txBody>
      </p:sp>
      <p:sp>
        <p:nvSpPr>
          <p:cNvPr id="7" name="Text 5"/>
          <p:cNvSpPr/>
          <p:nvPr/>
        </p:nvSpPr>
        <p:spPr>
          <a:xfrm>
            <a:off x="731520" y="1600200"/>
            <a:ext cx="4937760" cy="274320"/>
          </a:xfrm>
          <a:prstGeom prst="rect">
            <a:avLst/>
          </a:prstGeom>
          <a:noFill/>
          <a:ln/>
        </p:spPr>
        <p:txBody>
          <a:bodyPr wrap="square" lIns="0" tIns="0" rIns="0" bIns="0" rtlCol="0" anchor="ctr">
            <a:normAutofit/>
          </a:bodyPr>
          <a:lstStyle/>
          <a:p>
            <a:pPr marL="0" indent="0">
              <a:buNone/>
            </a:pPr>
            <a:r>
              <a:rPr lang="en-US" sz="1500" b="1" dirty="0">
                <a:solidFill>
                  <a:srgbClr val="7160B8"/>
                </a:solidFill>
              </a:rPr>
              <a:t>Identifier &amp; location</a:t>
            </a:r>
            <a:endParaRPr lang="en-US" sz="1500" dirty="0"/>
          </a:p>
        </p:txBody>
      </p:sp>
      <p:sp>
        <p:nvSpPr>
          <p:cNvPr id="8" name="Text 6"/>
          <p:cNvSpPr/>
          <p:nvPr/>
        </p:nvSpPr>
        <p:spPr>
          <a:xfrm>
            <a:off x="731520" y="2011680"/>
            <a:ext cx="4937760" cy="1417320"/>
          </a:xfrm>
          <a:prstGeom prst="rect">
            <a:avLst/>
          </a:prstGeom>
          <a:noFill/>
          <a:ln/>
        </p:spPr>
        <p:txBody>
          <a:bodyPr wrap="square" lIns="254" tIns="254" rIns="254" bIns="254" rtlCol="0" anchor="t">
            <a:normAutofit/>
          </a:bodyPr>
          <a:lstStyle/>
          <a:p>
            <a:pPr marL="152400" indent="-152400">
              <a:buSzPct val="100000"/>
              <a:buChar char="•"/>
            </a:pPr>
            <a:r>
              <a:rPr lang="en-US" sz="1120" dirty="0">
                <a:solidFill>
                  <a:srgbClr val="262637"/>
                </a:solidFill>
              </a:rPr>
              <a:t>ACCIDENT_NO: unique crash record</a:t>
            </a:r>
            <a:endParaRPr lang="en-US" sz="1120" dirty="0"/>
          </a:p>
          <a:p>
            <a:pPr marL="152400" indent="-152400">
              <a:buSzPct val="100000"/>
              <a:buChar char="•"/>
            </a:pPr>
            <a:r>
              <a:rPr lang="en-US" sz="1120" dirty="0">
                <a:solidFill>
                  <a:srgbClr val="262637"/>
                </a:solidFill>
              </a:rPr>
              <a:t>NODE_ID: crash location identifier</a:t>
            </a:r>
            <a:endParaRPr lang="en-US" sz="1120" dirty="0"/>
          </a:p>
          <a:p>
            <a:pPr marL="152400" indent="-152400">
              <a:buSzPct val="100000"/>
              <a:buChar char="•"/>
            </a:pPr>
            <a:r>
              <a:rPr lang="en-US" sz="1120" dirty="0">
                <a:solidFill>
                  <a:srgbClr val="262637"/>
                </a:solidFill>
              </a:rPr>
              <a:t>ROAD_NAME: crash road name</a:t>
            </a:r>
            <a:endParaRPr lang="en-US" sz="1120" dirty="0"/>
          </a:p>
          <a:p>
            <a:pPr marL="152400" indent="-152400">
              <a:buSzPct val="100000"/>
              <a:buChar char="•"/>
            </a:pPr>
            <a:r>
              <a:rPr lang="en-US" sz="1120" dirty="0">
                <a:solidFill>
                  <a:srgbClr val="262637"/>
                </a:solidFill>
              </a:rPr>
              <a:t>LGA_NAME: local government area</a:t>
            </a:r>
            <a:endParaRPr lang="en-US" sz="1120" dirty="0"/>
          </a:p>
          <a:p>
            <a:pPr marL="152400" indent="-152400">
              <a:buSzPct val="100000"/>
              <a:buChar char="•"/>
            </a:pPr>
            <a:r>
              <a:rPr lang="en-US" sz="1120" dirty="0">
                <a:solidFill>
                  <a:srgbClr val="262637"/>
                </a:solidFill>
              </a:rPr>
              <a:t>LATITUDE / LONGITUDE: map coordinates</a:t>
            </a:r>
            <a:endParaRPr lang="en-US" sz="1120" dirty="0"/>
          </a:p>
        </p:txBody>
      </p:sp>
      <p:sp>
        <p:nvSpPr>
          <p:cNvPr id="9" name="Shape 7"/>
          <p:cNvSpPr/>
          <p:nvPr/>
        </p:nvSpPr>
        <p:spPr>
          <a:xfrm>
            <a:off x="731520" y="3593592"/>
            <a:ext cx="4709160" cy="0"/>
          </a:xfrm>
          <a:prstGeom prst="line">
            <a:avLst/>
          </a:prstGeom>
          <a:noFill/>
          <a:ln w="17780">
            <a:solidFill>
              <a:srgbClr val="7160B8"/>
            </a:solidFill>
            <a:prstDash val="solid"/>
          </a:ln>
        </p:spPr>
        <p:txBody>
          <a:bodyPr/>
          <a:lstStyle/>
          <a:p>
            <a:endParaRPr lang="en-US"/>
          </a:p>
        </p:txBody>
      </p:sp>
      <p:sp>
        <p:nvSpPr>
          <p:cNvPr id="10" name="Text 8"/>
          <p:cNvSpPr/>
          <p:nvPr/>
        </p:nvSpPr>
        <p:spPr>
          <a:xfrm>
            <a:off x="731520" y="3886200"/>
            <a:ext cx="493776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Time fields</a:t>
            </a:r>
            <a:endParaRPr lang="en-US" sz="1500" dirty="0"/>
          </a:p>
        </p:txBody>
      </p:sp>
      <p:sp>
        <p:nvSpPr>
          <p:cNvPr id="11" name="Text 9"/>
          <p:cNvSpPr/>
          <p:nvPr/>
        </p:nvSpPr>
        <p:spPr>
          <a:xfrm>
            <a:off x="731520" y="4297680"/>
            <a:ext cx="4937760" cy="1417320"/>
          </a:xfrm>
          <a:prstGeom prst="rect">
            <a:avLst/>
          </a:prstGeom>
          <a:noFill/>
          <a:ln/>
        </p:spPr>
        <p:txBody>
          <a:bodyPr wrap="square" lIns="254" tIns="254" rIns="254" bIns="254" rtlCol="0" anchor="t">
            <a:normAutofit/>
          </a:bodyPr>
          <a:lstStyle/>
          <a:p>
            <a:pPr marL="152400" indent="-152400">
              <a:buSzPct val="100000"/>
              <a:buChar char="•"/>
            </a:pPr>
            <a:r>
              <a:rPr lang="en-US" sz="1120" dirty="0">
                <a:solidFill>
                  <a:srgbClr val="262637"/>
                </a:solidFill>
              </a:rPr>
              <a:t>ACCIDENT_DATE / ACCIDENT_TIME</a:t>
            </a:r>
            <a:endParaRPr lang="en-US" sz="1120" dirty="0"/>
          </a:p>
          <a:p>
            <a:pPr marL="152400" indent="-152400">
              <a:buSzPct val="100000"/>
              <a:buChar char="•"/>
            </a:pPr>
            <a:r>
              <a:rPr lang="en-US" sz="1120" dirty="0">
                <a:solidFill>
                  <a:srgbClr val="262637"/>
                </a:solidFill>
              </a:rPr>
              <a:t>DAY_OF_WEEK / DAY_WEEK_DESC</a:t>
            </a:r>
            <a:endParaRPr lang="en-US" sz="1120" dirty="0"/>
          </a:p>
          <a:p>
            <a:pPr marL="152400" indent="-152400">
              <a:buSzPct val="100000"/>
              <a:buChar char="•"/>
            </a:pPr>
            <a:r>
              <a:rPr lang="en-US" sz="1120" dirty="0">
                <a:solidFill>
                  <a:srgbClr val="262637"/>
                </a:solidFill>
              </a:rPr>
              <a:t>YEAR / MONTH / MONTH_NAME</a:t>
            </a:r>
            <a:endParaRPr lang="en-US" sz="1120" dirty="0"/>
          </a:p>
          <a:p>
            <a:pPr marL="152400" indent="-152400">
              <a:buSzPct val="100000"/>
              <a:buChar char="•"/>
            </a:pPr>
            <a:r>
              <a:rPr lang="en-US" sz="1120" dirty="0">
                <a:solidFill>
                  <a:srgbClr val="262637"/>
                </a:solidFill>
              </a:rPr>
              <a:t>HOUR</a:t>
            </a:r>
            <a:endParaRPr lang="en-US" sz="1120" dirty="0"/>
          </a:p>
          <a:p>
            <a:pPr marL="152400" indent="-152400">
              <a:buSzPct val="100000"/>
              <a:buChar char="•"/>
            </a:pPr>
            <a:r>
              <a:rPr lang="en-US" sz="1120" dirty="0">
                <a:solidFill>
                  <a:srgbClr val="262637"/>
                </a:solidFill>
              </a:rPr>
              <a:t>TIME_PERIOD</a:t>
            </a:r>
            <a:endParaRPr lang="en-US" sz="1120" dirty="0"/>
          </a:p>
          <a:p>
            <a:pPr marL="152400" indent="-152400">
              <a:buSzPct val="100000"/>
              <a:buChar char="•"/>
            </a:pPr>
            <a:r>
              <a:rPr lang="en-US" sz="1120" dirty="0">
                <a:solidFill>
                  <a:srgbClr val="262637"/>
                </a:solidFill>
              </a:rPr>
              <a:t>DAY_TYPE</a:t>
            </a:r>
            <a:endParaRPr lang="en-US" sz="1120" dirty="0"/>
          </a:p>
        </p:txBody>
      </p:sp>
      <p:sp>
        <p:nvSpPr>
          <p:cNvPr id="12" name="Shape 10"/>
          <p:cNvSpPr/>
          <p:nvPr/>
        </p:nvSpPr>
        <p:spPr>
          <a:xfrm>
            <a:off x="731520" y="5879592"/>
            <a:ext cx="4709160" cy="0"/>
          </a:xfrm>
          <a:prstGeom prst="line">
            <a:avLst/>
          </a:prstGeom>
          <a:noFill/>
          <a:ln w="17780">
            <a:solidFill>
              <a:srgbClr val="8EC8C5"/>
            </a:solidFill>
            <a:prstDash val="solid"/>
          </a:ln>
        </p:spPr>
        <p:txBody>
          <a:bodyPr/>
          <a:lstStyle/>
          <a:p>
            <a:endParaRPr lang="en-US"/>
          </a:p>
        </p:txBody>
      </p:sp>
      <p:sp>
        <p:nvSpPr>
          <p:cNvPr id="13" name="Text 11"/>
          <p:cNvSpPr/>
          <p:nvPr/>
        </p:nvSpPr>
        <p:spPr>
          <a:xfrm>
            <a:off x="6309360" y="1600200"/>
            <a:ext cx="4937760" cy="274320"/>
          </a:xfrm>
          <a:prstGeom prst="rect">
            <a:avLst/>
          </a:prstGeom>
          <a:noFill/>
          <a:ln/>
        </p:spPr>
        <p:txBody>
          <a:bodyPr wrap="square" lIns="0" tIns="0" rIns="0" bIns="0" rtlCol="0" anchor="ctr">
            <a:normAutofit/>
          </a:bodyPr>
          <a:lstStyle/>
          <a:p>
            <a:pPr marL="0" indent="0">
              <a:buNone/>
            </a:pPr>
            <a:r>
              <a:rPr lang="en-US" sz="1500" b="1" dirty="0">
                <a:solidFill>
                  <a:srgbClr val="D49A84"/>
                </a:solidFill>
              </a:rPr>
              <a:t>Crash classification</a:t>
            </a:r>
            <a:endParaRPr lang="en-US" sz="1500" dirty="0"/>
          </a:p>
        </p:txBody>
      </p:sp>
      <p:sp>
        <p:nvSpPr>
          <p:cNvPr id="14" name="Text 12"/>
          <p:cNvSpPr/>
          <p:nvPr/>
        </p:nvSpPr>
        <p:spPr>
          <a:xfrm>
            <a:off x="6309360" y="2011680"/>
            <a:ext cx="4937760" cy="1417320"/>
          </a:xfrm>
          <a:prstGeom prst="rect">
            <a:avLst/>
          </a:prstGeom>
          <a:noFill/>
          <a:ln/>
        </p:spPr>
        <p:txBody>
          <a:bodyPr wrap="square" lIns="254" tIns="254" rIns="254" bIns="254" rtlCol="0" anchor="t">
            <a:normAutofit/>
          </a:bodyPr>
          <a:lstStyle/>
          <a:p>
            <a:pPr marL="152400" indent="-152400">
              <a:buSzPct val="100000"/>
              <a:buChar char="•"/>
            </a:pPr>
            <a:r>
              <a:rPr lang="en-US" sz="1120" dirty="0">
                <a:solidFill>
                  <a:srgbClr val="262637"/>
                </a:solidFill>
              </a:rPr>
              <a:t>ACCIDENT_TYPE / ACCIDENT_TYPE_DESC</a:t>
            </a:r>
            <a:endParaRPr lang="en-US" sz="1120" dirty="0"/>
          </a:p>
          <a:p>
            <a:pPr marL="152400" indent="-152400">
              <a:buSzPct val="100000"/>
              <a:buChar char="•"/>
            </a:pPr>
            <a:r>
              <a:rPr lang="en-US" sz="1120" dirty="0">
                <a:solidFill>
                  <a:srgbClr val="262637"/>
                </a:solidFill>
              </a:rPr>
              <a:t>DCA_CODE / DCA_DESC</a:t>
            </a:r>
            <a:endParaRPr lang="en-US" sz="1120" dirty="0"/>
          </a:p>
          <a:p>
            <a:pPr marL="152400" indent="-152400">
              <a:buSzPct val="100000"/>
              <a:buChar char="•"/>
            </a:pPr>
            <a:r>
              <a:rPr lang="en-US" sz="1120" dirty="0">
                <a:solidFill>
                  <a:srgbClr val="262637"/>
                </a:solidFill>
              </a:rPr>
              <a:t>SEVERITY</a:t>
            </a:r>
            <a:endParaRPr lang="en-US" sz="1120" dirty="0"/>
          </a:p>
        </p:txBody>
      </p:sp>
      <p:sp>
        <p:nvSpPr>
          <p:cNvPr id="15" name="Shape 13"/>
          <p:cNvSpPr/>
          <p:nvPr/>
        </p:nvSpPr>
        <p:spPr>
          <a:xfrm>
            <a:off x="6309360" y="3593592"/>
            <a:ext cx="4709160" cy="0"/>
          </a:xfrm>
          <a:prstGeom prst="line">
            <a:avLst/>
          </a:prstGeom>
          <a:noFill/>
          <a:ln w="17780">
            <a:solidFill>
              <a:srgbClr val="D49A84"/>
            </a:solidFill>
            <a:prstDash val="solid"/>
          </a:ln>
        </p:spPr>
        <p:txBody>
          <a:bodyPr/>
          <a:lstStyle/>
          <a:p>
            <a:endParaRPr lang="en-US"/>
          </a:p>
        </p:txBody>
      </p:sp>
      <p:sp>
        <p:nvSpPr>
          <p:cNvPr id="16" name="Text 14"/>
          <p:cNvSpPr/>
          <p:nvPr/>
        </p:nvSpPr>
        <p:spPr>
          <a:xfrm>
            <a:off x="6309360" y="3886200"/>
            <a:ext cx="4937760" cy="274320"/>
          </a:xfrm>
          <a:prstGeom prst="rect">
            <a:avLst/>
          </a:prstGeom>
          <a:noFill/>
          <a:ln/>
        </p:spPr>
        <p:txBody>
          <a:bodyPr wrap="square" lIns="0" tIns="0" rIns="0" bIns="0" rtlCol="0" anchor="ctr">
            <a:normAutofit/>
          </a:bodyPr>
          <a:lstStyle/>
          <a:p>
            <a:pPr marL="0" indent="0">
              <a:buNone/>
            </a:pPr>
            <a:r>
              <a:rPr lang="en-US" sz="1500" b="1" dirty="0">
                <a:solidFill>
                  <a:srgbClr val="17264A"/>
                </a:solidFill>
              </a:rPr>
              <a:t>Road environment</a:t>
            </a:r>
            <a:endParaRPr lang="en-US" sz="1500" dirty="0"/>
          </a:p>
        </p:txBody>
      </p:sp>
      <p:sp>
        <p:nvSpPr>
          <p:cNvPr id="17" name="Text 15"/>
          <p:cNvSpPr/>
          <p:nvPr/>
        </p:nvSpPr>
        <p:spPr>
          <a:xfrm>
            <a:off x="6309360" y="4297680"/>
            <a:ext cx="4937760" cy="1417320"/>
          </a:xfrm>
          <a:prstGeom prst="rect">
            <a:avLst/>
          </a:prstGeom>
          <a:noFill/>
          <a:ln/>
        </p:spPr>
        <p:txBody>
          <a:bodyPr wrap="square" lIns="254" tIns="254" rIns="254" bIns="254" rtlCol="0" anchor="t">
            <a:normAutofit/>
          </a:bodyPr>
          <a:lstStyle/>
          <a:p>
            <a:pPr marL="152400" indent="-152400">
              <a:buSzPct val="100000"/>
              <a:buChar char="•"/>
            </a:pPr>
            <a:r>
              <a:rPr lang="en-US" sz="1120" dirty="0">
                <a:solidFill>
                  <a:srgbClr val="262637"/>
                </a:solidFill>
              </a:rPr>
              <a:t>LIGHT_CONDITION</a:t>
            </a:r>
            <a:endParaRPr lang="en-US" sz="1120" dirty="0"/>
          </a:p>
          <a:p>
            <a:pPr marL="152400" indent="-152400">
              <a:buSzPct val="100000"/>
              <a:buChar char="•"/>
            </a:pPr>
            <a:r>
              <a:rPr lang="en-US" sz="1120" dirty="0">
                <a:solidFill>
                  <a:srgbClr val="262637"/>
                </a:solidFill>
              </a:rPr>
              <a:t>ROAD_GEOMETRY_DESC</a:t>
            </a:r>
            <a:endParaRPr lang="en-US" sz="1120" dirty="0"/>
          </a:p>
          <a:p>
            <a:pPr marL="152400" indent="-152400">
              <a:buSzPct val="100000"/>
              <a:buChar char="•"/>
            </a:pPr>
            <a:r>
              <a:rPr lang="en-US" sz="1120" dirty="0">
                <a:solidFill>
                  <a:srgbClr val="262637"/>
                </a:solidFill>
              </a:rPr>
              <a:t>SPEED_ZONE</a:t>
            </a:r>
            <a:endParaRPr lang="en-US" sz="1120" dirty="0"/>
          </a:p>
          <a:p>
            <a:pPr marL="152400" indent="-152400">
              <a:buSzPct val="100000"/>
              <a:buChar char="•"/>
            </a:pPr>
            <a:r>
              <a:rPr lang="en-US" sz="1120" dirty="0">
                <a:solidFill>
                  <a:srgbClr val="262637"/>
                </a:solidFill>
              </a:rPr>
              <a:t>RMA</a:t>
            </a:r>
            <a:endParaRPr lang="en-US" sz="1120" dirty="0"/>
          </a:p>
        </p:txBody>
      </p:sp>
      <p:sp>
        <p:nvSpPr>
          <p:cNvPr id="18" name="Shape 16"/>
          <p:cNvSpPr/>
          <p:nvPr/>
        </p:nvSpPr>
        <p:spPr>
          <a:xfrm>
            <a:off x="6309360" y="5879592"/>
            <a:ext cx="4709160" cy="0"/>
          </a:xfrm>
          <a:prstGeom prst="line">
            <a:avLst/>
          </a:prstGeom>
          <a:noFill/>
          <a:ln w="17780">
            <a:solidFill>
              <a:srgbClr val="17264A"/>
            </a:solidFill>
            <a:prstDash val="solid"/>
          </a:ln>
        </p:spPr>
        <p:txBody>
          <a:bodyPr/>
          <a:lstStyle/>
          <a:p>
            <a:endParaRPr lang="en-US"/>
          </a:p>
        </p:txBody>
      </p:sp>
      <p:sp>
        <p:nvSpPr>
          <p:cNvPr id="19" name="Text 17"/>
          <p:cNvSpPr/>
          <p:nvPr/>
        </p:nvSpPr>
        <p:spPr>
          <a:xfrm>
            <a:off x="502920" y="6537960"/>
            <a:ext cx="10515600" cy="164592"/>
          </a:xfrm>
          <a:prstGeom prst="rect">
            <a:avLst/>
          </a:prstGeom>
          <a:noFill/>
          <a:ln/>
        </p:spPr>
        <p:txBody>
          <a:bodyPr wrap="square" lIns="0" tIns="0" rIns="0" bIns="0" rtlCol="0" anchor="ctr"/>
          <a:lstStyle/>
          <a:p>
            <a:pPr marL="0" indent="0">
              <a:buNone/>
            </a:pPr>
            <a:r>
              <a:rPr lang="en-US" sz="700" dirty="0">
                <a:solidFill>
                  <a:srgbClr val="817A8D"/>
                </a:solidFill>
              </a:rPr>
              <a:t>Definitions summarized from the official Transport Victoria data dictionary and project-derived fields.</a:t>
            </a:r>
            <a:endParaRPr lang="en-US" sz="7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Data Dictionary: Key Codes &amp; Definitions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06</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594360" y="987552"/>
            <a:ext cx="10789920" cy="256032"/>
          </a:xfrm>
          <a:prstGeom prst="rect">
            <a:avLst/>
          </a:prstGeom>
          <a:noFill/>
          <a:ln/>
        </p:spPr>
        <p:txBody>
          <a:bodyPr wrap="square" lIns="0" tIns="0" rIns="0" bIns="0" rtlCol="0" anchor="t">
            <a:normAutofit/>
          </a:bodyPr>
          <a:lstStyle/>
          <a:p>
            <a:pPr marL="0" indent="0" algn="l">
              <a:buNone/>
            </a:pPr>
            <a:r>
              <a:rPr lang="en-US" sz="1400" dirty="0">
                <a:solidFill>
                  <a:srgbClr val="5F6070"/>
                </a:solidFill>
              </a:rPr>
              <a:t>Key code fields were interpreted before analysis to avoid treating category labels as continuous values.</a:t>
            </a:r>
            <a:endParaRPr lang="en-US" sz="1400" dirty="0"/>
          </a:p>
        </p:txBody>
      </p:sp>
      <p:sp>
        <p:nvSpPr>
          <p:cNvPr id="7" name="Text 5"/>
          <p:cNvSpPr/>
          <p:nvPr/>
        </p:nvSpPr>
        <p:spPr>
          <a:xfrm>
            <a:off x="731520" y="1554480"/>
            <a:ext cx="2194560" cy="274320"/>
          </a:xfrm>
          <a:prstGeom prst="rect">
            <a:avLst/>
          </a:prstGeom>
          <a:noFill/>
          <a:ln/>
        </p:spPr>
        <p:txBody>
          <a:bodyPr wrap="square" lIns="0" tIns="0" rIns="0" bIns="0" rtlCol="0" anchor="ctr">
            <a:normAutofit/>
          </a:bodyPr>
          <a:lstStyle/>
          <a:p>
            <a:pPr marL="0" indent="0">
              <a:buNone/>
            </a:pPr>
            <a:r>
              <a:rPr lang="en-US" sz="1600" b="1" dirty="0">
                <a:solidFill>
                  <a:srgbClr val="B35B52"/>
                </a:solidFill>
              </a:rPr>
              <a:t>Severity</a:t>
            </a:r>
            <a:endParaRPr lang="en-US" sz="1600" dirty="0"/>
          </a:p>
        </p:txBody>
      </p:sp>
      <p:sp>
        <p:nvSpPr>
          <p:cNvPr id="8" name="Text 6"/>
          <p:cNvSpPr/>
          <p:nvPr/>
        </p:nvSpPr>
        <p:spPr>
          <a:xfrm>
            <a:off x="731520" y="1938528"/>
            <a:ext cx="2743200" cy="914400"/>
          </a:xfrm>
          <a:prstGeom prst="rect">
            <a:avLst/>
          </a:prstGeom>
          <a:noFill/>
          <a:ln/>
        </p:spPr>
        <p:txBody>
          <a:bodyPr wrap="square" lIns="254" tIns="254" rIns="254" bIns="254" rtlCol="0" anchor="t">
            <a:normAutofit/>
          </a:bodyPr>
          <a:lstStyle/>
          <a:p>
            <a:pPr marL="152400" indent="-152400">
              <a:buSzPct val="100000"/>
              <a:buChar char="•"/>
            </a:pPr>
            <a:r>
              <a:rPr lang="en-US" sz="1210" dirty="0">
                <a:solidFill>
                  <a:srgbClr val="262637"/>
                </a:solidFill>
              </a:rPr>
              <a:t>1 = Fatal accident</a:t>
            </a:r>
            <a:endParaRPr lang="en-US" sz="1210" dirty="0"/>
          </a:p>
          <a:p>
            <a:pPr marL="152400" indent="-152400">
              <a:buSzPct val="100000"/>
              <a:buChar char="•"/>
            </a:pPr>
            <a:r>
              <a:rPr lang="en-US" sz="1210" dirty="0">
                <a:solidFill>
                  <a:srgbClr val="262637"/>
                </a:solidFill>
              </a:rPr>
              <a:t>2 = Serious injury accident</a:t>
            </a:r>
            <a:endParaRPr lang="en-US" sz="1210" dirty="0"/>
          </a:p>
          <a:p>
            <a:pPr marL="152400" indent="-152400">
              <a:buSzPct val="100000"/>
              <a:buChar char="•"/>
            </a:pPr>
            <a:r>
              <a:rPr lang="en-US" sz="1210" dirty="0">
                <a:solidFill>
                  <a:srgbClr val="262637"/>
                </a:solidFill>
              </a:rPr>
              <a:t>3 = Other injury accident</a:t>
            </a:r>
            <a:endParaRPr lang="en-US" sz="1210" dirty="0"/>
          </a:p>
          <a:p>
            <a:pPr marL="152400" indent="-152400">
              <a:buSzPct val="100000"/>
              <a:buChar char="•"/>
            </a:pPr>
            <a:r>
              <a:rPr lang="en-US" sz="1210" dirty="0">
                <a:solidFill>
                  <a:srgbClr val="262637"/>
                </a:solidFill>
              </a:rPr>
              <a:t>4 = Non-injury accident</a:t>
            </a:r>
            <a:endParaRPr lang="en-US" sz="1210" dirty="0"/>
          </a:p>
        </p:txBody>
      </p:sp>
      <p:sp>
        <p:nvSpPr>
          <p:cNvPr id="9" name="Text 7"/>
          <p:cNvSpPr/>
          <p:nvPr/>
        </p:nvSpPr>
        <p:spPr>
          <a:xfrm>
            <a:off x="3657600" y="1554480"/>
            <a:ext cx="256032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Light condition</a:t>
            </a:r>
            <a:endParaRPr lang="en-US" sz="1600" dirty="0"/>
          </a:p>
        </p:txBody>
      </p:sp>
      <p:sp>
        <p:nvSpPr>
          <p:cNvPr id="10" name="Text 8"/>
          <p:cNvSpPr/>
          <p:nvPr/>
        </p:nvSpPr>
        <p:spPr>
          <a:xfrm>
            <a:off x="3657600" y="1938528"/>
            <a:ext cx="3063240" cy="1554480"/>
          </a:xfrm>
          <a:prstGeom prst="rect">
            <a:avLst/>
          </a:prstGeom>
          <a:noFill/>
          <a:ln/>
        </p:spPr>
        <p:txBody>
          <a:bodyPr wrap="square" lIns="254" tIns="254" rIns="254" bIns="254" rtlCol="0" anchor="t">
            <a:normAutofit/>
          </a:bodyPr>
          <a:lstStyle/>
          <a:p>
            <a:pPr marL="152400" indent="-152400">
              <a:buSzPct val="100000"/>
              <a:buChar char="•"/>
            </a:pPr>
            <a:r>
              <a:rPr lang="en-US" sz="1080" dirty="0">
                <a:solidFill>
                  <a:srgbClr val="262637"/>
                </a:solidFill>
              </a:rPr>
              <a:t>1 = Day</a:t>
            </a:r>
            <a:endParaRPr lang="en-US" sz="1080" dirty="0"/>
          </a:p>
          <a:p>
            <a:pPr marL="152400" indent="-152400">
              <a:buSzPct val="100000"/>
              <a:buChar char="•"/>
            </a:pPr>
            <a:r>
              <a:rPr lang="en-US" sz="1080" dirty="0">
                <a:solidFill>
                  <a:srgbClr val="262637"/>
                </a:solidFill>
              </a:rPr>
              <a:t>2 = Dusk/dawn</a:t>
            </a:r>
            <a:endParaRPr lang="en-US" sz="1080" dirty="0"/>
          </a:p>
          <a:p>
            <a:pPr marL="152400" indent="-152400">
              <a:buSzPct val="100000"/>
              <a:buChar char="•"/>
            </a:pPr>
            <a:r>
              <a:rPr lang="en-US" sz="1080" dirty="0">
                <a:solidFill>
                  <a:srgbClr val="262637"/>
                </a:solidFill>
              </a:rPr>
              <a:t>3 = Dark, street lights on</a:t>
            </a:r>
            <a:endParaRPr lang="en-US" sz="1080" dirty="0"/>
          </a:p>
          <a:p>
            <a:pPr marL="152400" indent="-152400">
              <a:buSzPct val="100000"/>
              <a:buChar char="•"/>
            </a:pPr>
            <a:r>
              <a:rPr lang="en-US" sz="1080" dirty="0">
                <a:solidFill>
                  <a:srgbClr val="262637"/>
                </a:solidFill>
              </a:rPr>
              <a:t>4 = Dark, street lights off</a:t>
            </a:r>
            <a:endParaRPr lang="en-US" sz="1080" dirty="0"/>
          </a:p>
          <a:p>
            <a:pPr marL="152400" indent="-152400">
              <a:buSzPct val="100000"/>
              <a:buChar char="•"/>
            </a:pPr>
            <a:r>
              <a:rPr lang="en-US" sz="1080" dirty="0">
                <a:solidFill>
                  <a:srgbClr val="262637"/>
                </a:solidFill>
              </a:rPr>
              <a:t>5 = Dark, no street lights</a:t>
            </a:r>
            <a:endParaRPr lang="en-US" sz="1080" dirty="0"/>
          </a:p>
          <a:p>
            <a:pPr marL="152400" indent="-152400">
              <a:buSzPct val="100000"/>
              <a:buChar char="•"/>
            </a:pPr>
            <a:r>
              <a:rPr lang="en-US" sz="1080" dirty="0">
                <a:solidFill>
                  <a:srgbClr val="262637"/>
                </a:solidFill>
              </a:rPr>
              <a:t>6 = Dark lighting unknown</a:t>
            </a:r>
            <a:endParaRPr lang="en-US" sz="1080" dirty="0"/>
          </a:p>
          <a:p>
            <a:pPr marL="152400" indent="-152400">
              <a:buSzPct val="100000"/>
              <a:buChar char="•"/>
            </a:pPr>
            <a:r>
              <a:rPr lang="en-US" sz="1080" dirty="0">
                <a:solidFill>
                  <a:srgbClr val="262637"/>
                </a:solidFill>
              </a:rPr>
              <a:t>9 = Unknown</a:t>
            </a:r>
            <a:endParaRPr lang="en-US" sz="1080" dirty="0"/>
          </a:p>
        </p:txBody>
      </p:sp>
      <p:sp>
        <p:nvSpPr>
          <p:cNvPr id="11" name="Text 9"/>
          <p:cNvSpPr/>
          <p:nvPr/>
        </p:nvSpPr>
        <p:spPr>
          <a:xfrm>
            <a:off x="7132320" y="1554480"/>
            <a:ext cx="2926080" cy="274320"/>
          </a:xfrm>
          <a:prstGeom prst="rect">
            <a:avLst/>
          </a:prstGeom>
          <a:noFill/>
          <a:ln/>
        </p:spPr>
        <p:txBody>
          <a:bodyPr wrap="square" lIns="0" tIns="0" rIns="0" bIns="0" rtlCol="0" anchor="ctr">
            <a:normAutofit/>
          </a:bodyPr>
          <a:lstStyle/>
          <a:p>
            <a:pPr marL="0" indent="0">
              <a:buNone/>
            </a:pPr>
            <a:r>
              <a:rPr lang="en-US" sz="1600" b="1" dirty="0">
                <a:solidFill>
                  <a:srgbClr val="8EC8C5"/>
                </a:solidFill>
              </a:rPr>
              <a:t>Road geometry</a:t>
            </a:r>
            <a:endParaRPr lang="en-US" sz="1600" dirty="0"/>
          </a:p>
        </p:txBody>
      </p:sp>
      <p:sp>
        <p:nvSpPr>
          <p:cNvPr id="12" name="Text 10"/>
          <p:cNvSpPr/>
          <p:nvPr/>
        </p:nvSpPr>
        <p:spPr>
          <a:xfrm>
            <a:off x="7132320" y="1938528"/>
            <a:ext cx="4206240" cy="914400"/>
          </a:xfrm>
          <a:prstGeom prst="rect">
            <a:avLst/>
          </a:prstGeom>
          <a:noFill/>
          <a:ln/>
        </p:spPr>
        <p:txBody>
          <a:bodyPr wrap="square" lIns="254" tIns="254" rIns="254" bIns="254" rtlCol="0" anchor="t">
            <a:normAutofit/>
          </a:bodyPr>
          <a:lstStyle/>
          <a:p>
            <a:pPr marL="152400" indent="-152400">
              <a:buSzPct val="100000"/>
              <a:buChar char="•"/>
            </a:pPr>
            <a:r>
              <a:rPr lang="en-US" sz="1210" dirty="0">
                <a:solidFill>
                  <a:srgbClr val="262637"/>
                </a:solidFill>
              </a:rPr>
              <a:t>Cross / T / Y / multiple intersections</a:t>
            </a:r>
            <a:endParaRPr lang="en-US" sz="1210" dirty="0"/>
          </a:p>
          <a:p>
            <a:pPr marL="152400" indent="-152400">
              <a:buSzPct val="100000"/>
              <a:buChar char="•"/>
            </a:pPr>
            <a:r>
              <a:rPr lang="en-US" sz="1210" dirty="0">
                <a:solidFill>
                  <a:srgbClr val="262637"/>
                </a:solidFill>
              </a:rPr>
              <a:t>Not at intersection</a:t>
            </a:r>
            <a:endParaRPr lang="en-US" sz="1210" dirty="0"/>
          </a:p>
          <a:p>
            <a:pPr marL="152400" indent="-152400">
              <a:buSzPct val="100000"/>
              <a:buChar char="•"/>
            </a:pPr>
            <a:r>
              <a:rPr lang="en-US" sz="1210" dirty="0">
                <a:solidFill>
                  <a:srgbClr val="262637"/>
                </a:solidFill>
              </a:rPr>
              <a:t>Dead end / road closure</a:t>
            </a:r>
            <a:endParaRPr lang="en-US" sz="1210" dirty="0"/>
          </a:p>
          <a:p>
            <a:pPr marL="152400" indent="-152400">
              <a:buSzPct val="100000"/>
              <a:buChar char="•"/>
            </a:pPr>
            <a:r>
              <a:rPr lang="en-US" sz="1210" dirty="0">
                <a:solidFill>
                  <a:srgbClr val="262637"/>
                </a:solidFill>
              </a:rPr>
              <a:t>Private property / unknown</a:t>
            </a:r>
            <a:endParaRPr lang="en-US" sz="1210" dirty="0"/>
          </a:p>
        </p:txBody>
      </p:sp>
      <p:sp>
        <p:nvSpPr>
          <p:cNvPr id="13" name="Text 11"/>
          <p:cNvSpPr/>
          <p:nvPr/>
        </p:nvSpPr>
        <p:spPr>
          <a:xfrm>
            <a:off x="731520" y="4160520"/>
            <a:ext cx="3840480" cy="274320"/>
          </a:xfrm>
          <a:prstGeom prst="rect">
            <a:avLst/>
          </a:prstGeom>
          <a:noFill/>
          <a:ln/>
        </p:spPr>
        <p:txBody>
          <a:bodyPr wrap="square" lIns="0" tIns="0" rIns="0" bIns="0" rtlCol="0" anchor="ctr">
            <a:normAutofit/>
          </a:bodyPr>
          <a:lstStyle/>
          <a:p>
            <a:pPr marL="0" indent="0">
              <a:buNone/>
            </a:pPr>
            <a:r>
              <a:rPr lang="en-US" sz="1600" b="1" dirty="0">
                <a:solidFill>
                  <a:srgbClr val="D49A84"/>
                </a:solidFill>
              </a:rPr>
              <a:t>DCA code and description</a:t>
            </a:r>
            <a:endParaRPr lang="en-US" sz="1600" dirty="0"/>
          </a:p>
        </p:txBody>
      </p:sp>
      <p:sp>
        <p:nvSpPr>
          <p:cNvPr id="14" name="Text 12"/>
          <p:cNvSpPr/>
          <p:nvPr/>
        </p:nvSpPr>
        <p:spPr>
          <a:xfrm>
            <a:off x="731520" y="4553712"/>
            <a:ext cx="4754880" cy="640080"/>
          </a:xfrm>
          <a:prstGeom prst="rect">
            <a:avLst/>
          </a:prstGeom>
          <a:noFill/>
          <a:ln/>
        </p:spPr>
        <p:txBody>
          <a:bodyPr wrap="square" lIns="0" tIns="0" rIns="0" bIns="0" rtlCol="0" anchor="t">
            <a:normAutofit/>
          </a:bodyPr>
          <a:lstStyle/>
          <a:p>
            <a:pPr marL="0" indent="0" algn="l">
              <a:buNone/>
            </a:pPr>
            <a:r>
              <a:rPr lang="en-US" sz="1230" dirty="0">
                <a:solidFill>
                  <a:srgbClr val="5F6070"/>
                </a:solidFill>
              </a:rPr>
              <a:t>Definition for Classifying Accidents: detailed crash movement/type such as rear-end, right-through, cross-traffic, off-carriageway and pedestrian-related events.</a:t>
            </a:r>
            <a:endParaRPr lang="en-US" sz="1230" dirty="0"/>
          </a:p>
        </p:txBody>
      </p:sp>
      <p:sp>
        <p:nvSpPr>
          <p:cNvPr id="15" name="Text 13"/>
          <p:cNvSpPr/>
          <p:nvPr/>
        </p:nvSpPr>
        <p:spPr>
          <a:xfrm>
            <a:off x="6172200" y="4160520"/>
            <a:ext cx="3840480" cy="274320"/>
          </a:xfrm>
          <a:prstGeom prst="rect">
            <a:avLst/>
          </a:prstGeom>
          <a:noFill/>
          <a:ln/>
        </p:spPr>
        <p:txBody>
          <a:bodyPr wrap="square" lIns="0" tIns="0" rIns="0" bIns="0" rtlCol="0" anchor="ctr">
            <a:normAutofit/>
          </a:bodyPr>
          <a:lstStyle/>
          <a:p>
            <a:pPr marL="0" indent="0">
              <a:buNone/>
            </a:pPr>
            <a:r>
              <a:rPr lang="en-US" sz="1600" b="1" dirty="0">
                <a:solidFill>
                  <a:srgbClr val="17264A"/>
                </a:solidFill>
              </a:rPr>
              <a:t>Project-specific sorting</a:t>
            </a:r>
            <a:endParaRPr lang="en-US" sz="1600" dirty="0"/>
          </a:p>
        </p:txBody>
      </p:sp>
      <p:sp>
        <p:nvSpPr>
          <p:cNvPr id="16" name="Text 14"/>
          <p:cNvSpPr/>
          <p:nvPr/>
        </p:nvSpPr>
        <p:spPr>
          <a:xfrm>
            <a:off x="6172200" y="4553712"/>
            <a:ext cx="4937760" cy="640080"/>
          </a:xfrm>
          <a:prstGeom prst="rect">
            <a:avLst/>
          </a:prstGeom>
          <a:noFill/>
          <a:ln/>
        </p:spPr>
        <p:txBody>
          <a:bodyPr wrap="square" lIns="0" tIns="0" rIns="0" bIns="0" rtlCol="0" anchor="t">
            <a:normAutofit/>
          </a:bodyPr>
          <a:lstStyle/>
          <a:p>
            <a:pPr marL="0" indent="0" algn="l">
              <a:buNone/>
            </a:pPr>
            <a:r>
              <a:rPr lang="en-US" sz="1230" dirty="0">
                <a:solidFill>
                  <a:srgbClr val="5F6070"/>
                </a:solidFill>
              </a:rPr>
              <a:t>DAY_OF_WEEK was standardized as Monday = 1 through Sunday = 7 for dashboard sorting</a:t>
            </a:r>
            <a:endParaRPr lang="en-US" sz="1230" dirty="0"/>
          </a:p>
        </p:txBody>
      </p:sp>
      <p:sp>
        <p:nvSpPr>
          <p:cNvPr id="17" name="Text 15"/>
          <p:cNvSpPr/>
          <p:nvPr/>
        </p:nvSpPr>
        <p:spPr>
          <a:xfrm>
            <a:off x="502920" y="6537960"/>
            <a:ext cx="10515600" cy="164592"/>
          </a:xfrm>
          <a:prstGeom prst="rect">
            <a:avLst/>
          </a:prstGeom>
          <a:noFill/>
          <a:ln/>
        </p:spPr>
        <p:txBody>
          <a:bodyPr wrap="square" lIns="0" tIns="0" rIns="0" bIns="0" rtlCol="0" anchor="ctr"/>
          <a:lstStyle/>
          <a:p>
            <a:pPr marL="0" indent="0">
              <a:buNone/>
            </a:pPr>
            <a:r>
              <a:rPr lang="en-US" sz="700" dirty="0">
                <a:solidFill>
                  <a:srgbClr val="817A8D"/>
                </a:solidFill>
              </a:rPr>
              <a:t>Source: Transport Victoria Open Data Dictionary.</a:t>
            </a:r>
            <a:endParaRPr lang="en-US" sz="7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Data Cleaning &amp; Preparation Workflow</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07</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2044700" y="1417320"/>
            <a:ext cx="411480" cy="320040"/>
          </a:xfrm>
          <a:prstGeom prst="rect">
            <a:avLst/>
          </a:prstGeom>
          <a:noFill/>
          <a:ln/>
        </p:spPr>
        <p:txBody>
          <a:bodyPr wrap="square" lIns="0" tIns="0" rIns="0" bIns="0" rtlCol="0" anchor="ctr"/>
          <a:lstStyle/>
          <a:p>
            <a:pPr marL="0" indent="0" algn="ctr">
              <a:buNone/>
            </a:pPr>
            <a:r>
              <a:rPr lang="en-US" sz="2000" b="1" dirty="0">
                <a:solidFill>
                  <a:srgbClr val="7160B8"/>
                </a:solidFill>
              </a:rPr>
              <a:t>1</a:t>
            </a:r>
            <a:endParaRPr lang="en-US" sz="2000" dirty="0"/>
          </a:p>
        </p:txBody>
      </p:sp>
      <p:sp>
        <p:nvSpPr>
          <p:cNvPr id="7" name="Text 5"/>
          <p:cNvSpPr/>
          <p:nvPr/>
        </p:nvSpPr>
        <p:spPr>
          <a:xfrm>
            <a:off x="1724660" y="1920240"/>
            <a:ext cx="1325880" cy="228600"/>
          </a:xfrm>
          <a:prstGeom prst="rect">
            <a:avLst/>
          </a:prstGeom>
          <a:noFill/>
          <a:ln/>
        </p:spPr>
        <p:txBody>
          <a:bodyPr wrap="square" lIns="0" tIns="0" rIns="0" bIns="0" rtlCol="0" anchor="ctr">
            <a:normAutofit/>
          </a:bodyPr>
          <a:lstStyle/>
          <a:p>
            <a:pPr marL="0" indent="0">
              <a:buNone/>
            </a:pPr>
            <a:r>
              <a:rPr lang="en-US" sz="1300" b="1" dirty="0">
                <a:solidFill>
                  <a:srgbClr val="262637"/>
                </a:solidFill>
              </a:rPr>
              <a:t>Reduce scope</a:t>
            </a:r>
            <a:endParaRPr lang="en-US" sz="1300" dirty="0"/>
          </a:p>
        </p:txBody>
      </p:sp>
      <p:sp>
        <p:nvSpPr>
          <p:cNvPr id="8" name="Text 6"/>
          <p:cNvSpPr/>
          <p:nvPr/>
        </p:nvSpPr>
        <p:spPr>
          <a:xfrm>
            <a:off x="1541780" y="2267712"/>
            <a:ext cx="1737360" cy="411480"/>
          </a:xfrm>
          <a:prstGeom prst="rect">
            <a:avLst/>
          </a:prstGeom>
          <a:noFill/>
          <a:ln/>
        </p:spPr>
        <p:txBody>
          <a:bodyPr wrap="square" lIns="0" tIns="0" rIns="0" bIns="0" rtlCol="0" anchor="t">
            <a:normAutofit/>
          </a:bodyPr>
          <a:lstStyle/>
          <a:p>
            <a:pPr marL="0" indent="0" algn="ctr">
              <a:buNone/>
            </a:pPr>
            <a:r>
              <a:rPr lang="en-US" sz="1080" dirty="0">
                <a:solidFill>
                  <a:srgbClr val="5F6070"/>
                </a:solidFill>
              </a:rPr>
              <a:t>Filtered to 2019–2023</a:t>
            </a:r>
            <a:endParaRPr lang="en-US" sz="1080" dirty="0"/>
          </a:p>
        </p:txBody>
      </p:sp>
      <p:sp>
        <p:nvSpPr>
          <p:cNvPr id="9" name="Shape 7"/>
          <p:cNvSpPr/>
          <p:nvPr/>
        </p:nvSpPr>
        <p:spPr>
          <a:xfrm>
            <a:off x="2639060" y="1600200"/>
            <a:ext cx="1234440" cy="0"/>
          </a:xfrm>
          <a:prstGeom prst="line">
            <a:avLst/>
          </a:prstGeom>
          <a:noFill/>
          <a:ln w="17780">
            <a:solidFill>
              <a:srgbClr val="BFB8D5"/>
            </a:solidFill>
            <a:prstDash val="solid"/>
          </a:ln>
        </p:spPr>
        <p:txBody>
          <a:bodyPr/>
          <a:lstStyle/>
          <a:p>
            <a:endParaRPr lang="en-US"/>
          </a:p>
        </p:txBody>
      </p:sp>
      <p:sp>
        <p:nvSpPr>
          <p:cNvPr id="10" name="Text 8"/>
          <p:cNvSpPr/>
          <p:nvPr/>
        </p:nvSpPr>
        <p:spPr>
          <a:xfrm>
            <a:off x="4312412" y="1417320"/>
            <a:ext cx="411480" cy="320040"/>
          </a:xfrm>
          <a:prstGeom prst="rect">
            <a:avLst/>
          </a:prstGeom>
          <a:noFill/>
          <a:ln/>
        </p:spPr>
        <p:txBody>
          <a:bodyPr wrap="square" lIns="0" tIns="0" rIns="0" bIns="0" rtlCol="0" anchor="ctr"/>
          <a:lstStyle/>
          <a:p>
            <a:pPr marL="0" indent="0" algn="ctr">
              <a:buNone/>
            </a:pPr>
            <a:r>
              <a:rPr lang="en-US" sz="2000" b="1" dirty="0">
                <a:solidFill>
                  <a:srgbClr val="8EC8C5"/>
                </a:solidFill>
              </a:rPr>
              <a:t>2</a:t>
            </a:r>
            <a:endParaRPr lang="en-US" sz="2000" dirty="0"/>
          </a:p>
        </p:txBody>
      </p:sp>
      <p:sp>
        <p:nvSpPr>
          <p:cNvPr id="11" name="Text 9"/>
          <p:cNvSpPr/>
          <p:nvPr/>
        </p:nvSpPr>
        <p:spPr>
          <a:xfrm>
            <a:off x="3992372" y="1920240"/>
            <a:ext cx="1325880" cy="228600"/>
          </a:xfrm>
          <a:prstGeom prst="rect">
            <a:avLst/>
          </a:prstGeom>
          <a:noFill/>
          <a:ln/>
        </p:spPr>
        <p:txBody>
          <a:bodyPr wrap="square" lIns="0" tIns="0" rIns="0" bIns="0" rtlCol="0" anchor="ctr">
            <a:normAutofit/>
          </a:bodyPr>
          <a:lstStyle/>
          <a:p>
            <a:pPr marL="0" indent="0">
              <a:buNone/>
            </a:pPr>
            <a:r>
              <a:rPr lang="en-US" sz="1300" b="1" dirty="0">
                <a:solidFill>
                  <a:srgbClr val="262637"/>
                </a:solidFill>
              </a:rPr>
              <a:t>Parse dates/time</a:t>
            </a:r>
            <a:endParaRPr lang="en-US" sz="1300" dirty="0"/>
          </a:p>
        </p:txBody>
      </p:sp>
      <p:sp>
        <p:nvSpPr>
          <p:cNvPr id="12" name="Text 10"/>
          <p:cNvSpPr/>
          <p:nvPr/>
        </p:nvSpPr>
        <p:spPr>
          <a:xfrm>
            <a:off x="3809492" y="2267712"/>
            <a:ext cx="1737360" cy="411480"/>
          </a:xfrm>
          <a:prstGeom prst="rect">
            <a:avLst/>
          </a:prstGeom>
          <a:noFill/>
          <a:ln/>
        </p:spPr>
        <p:txBody>
          <a:bodyPr wrap="square" lIns="0" tIns="0" rIns="0" bIns="0" rtlCol="0" anchor="t">
            <a:normAutofit/>
          </a:bodyPr>
          <a:lstStyle/>
          <a:p>
            <a:pPr marL="0" indent="0" algn="ctr">
              <a:buNone/>
            </a:pPr>
            <a:r>
              <a:rPr lang="en-US" sz="1080" dirty="0">
                <a:solidFill>
                  <a:srgbClr val="5F6070"/>
                </a:solidFill>
              </a:rPr>
              <a:t>Created YEAR, MONTH, HOUR</a:t>
            </a:r>
            <a:endParaRPr lang="en-US" sz="1080" dirty="0"/>
          </a:p>
        </p:txBody>
      </p:sp>
      <p:sp>
        <p:nvSpPr>
          <p:cNvPr id="13" name="Shape 11"/>
          <p:cNvSpPr/>
          <p:nvPr/>
        </p:nvSpPr>
        <p:spPr>
          <a:xfrm>
            <a:off x="4906772" y="1600200"/>
            <a:ext cx="1234440" cy="0"/>
          </a:xfrm>
          <a:prstGeom prst="line">
            <a:avLst/>
          </a:prstGeom>
          <a:noFill/>
          <a:ln w="17780">
            <a:solidFill>
              <a:srgbClr val="BFB8D5"/>
            </a:solidFill>
            <a:prstDash val="solid"/>
          </a:ln>
        </p:spPr>
        <p:txBody>
          <a:bodyPr/>
          <a:lstStyle/>
          <a:p>
            <a:endParaRPr lang="en-US"/>
          </a:p>
        </p:txBody>
      </p:sp>
      <p:sp>
        <p:nvSpPr>
          <p:cNvPr id="14" name="Text 12"/>
          <p:cNvSpPr/>
          <p:nvPr/>
        </p:nvSpPr>
        <p:spPr>
          <a:xfrm>
            <a:off x="6580124" y="1417320"/>
            <a:ext cx="411480" cy="320040"/>
          </a:xfrm>
          <a:prstGeom prst="rect">
            <a:avLst/>
          </a:prstGeom>
          <a:noFill/>
          <a:ln/>
        </p:spPr>
        <p:txBody>
          <a:bodyPr wrap="square" lIns="0" tIns="0" rIns="0" bIns="0" rtlCol="0" anchor="ctr"/>
          <a:lstStyle/>
          <a:p>
            <a:pPr marL="0" indent="0" algn="ctr">
              <a:buNone/>
            </a:pPr>
            <a:r>
              <a:rPr lang="en-US" sz="2000" b="1" dirty="0">
                <a:solidFill>
                  <a:srgbClr val="D49A84"/>
                </a:solidFill>
              </a:rPr>
              <a:t>3</a:t>
            </a:r>
            <a:endParaRPr lang="en-US" sz="2000" dirty="0"/>
          </a:p>
        </p:txBody>
      </p:sp>
      <p:sp>
        <p:nvSpPr>
          <p:cNvPr id="15" name="Text 13"/>
          <p:cNvSpPr/>
          <p:nvPr/>
        </p:nvSpPr>
        <p:spPr>
          <a:xfrm>
            <a:off x="6260084" y="1920240"/>
            <a:ext cx="1325880" cy="228600"/>
          </a:xfrm>
          <a:prstGeom prst="rect">
            <a:avLst/>
          </a:prstGeom>
          <a:noFill/>
          <a:ln/>
        </p:spPr>
        <p:txBody>
          <a:bodyPr wrap="square" lIns="0" tIns="0" rIns="0" bIns="0" rtlCol="0" anchor="ctr">
            <a:normAutofit/>
          </a:bodyPr>
          <a:lstStyle/>
          <a:p>
            <a:pPr marL="0" indent="0">
              <a:buNone/>
            </a:pPr>
            <a:r>
              <a:rPr lang="en-US" sz="1300" b="1" dirty="0">
                <a:solidFill>
                  <a:srgbClr val="262637"/>
                </a:solidFill>
              </a:rPr>
              <a:t>Validate weekdays</a:t>
            </a:r>
            <a:endParaRPr lang="en-US" sz="1300" dirty="0"/>
          </a:p>
        </p:txBody>
      </p:sp>
      <p:sp>
        <p:nvSpPr>
          <p:cNvPr id="16" name="Text 14"/>
          <p:cNvSpPr/>
          <p:nvPr/>
        </p:nvSpPr>
        <p:spPr>
          <a:xfrm>
            <a:off x="6077204" y="2267712"/>
            <a:ext cx="1737360" cy="411480"/>
          </a:xfrm>
          <a:prstGeom prst="rect">
            <a:avLst/>
          </a:prstGeom>
          <a:noFill/>
          <a:ln/>
        </p:spPr>
        <p:txBody>
          <a:bodyPr wrap="square" lIns="0" tIns="0" rIns="0" bIns="0" rtlCol="0" anchor="t">
            <a:normAutofit/>
          </a:bodyPr>
          <a:lstStyle/>
          <a:p>
            <a:pPr marL="0" indent="0" algn="ctr">
              <a:buNone/>
            </a:pPr>
            <a:r>
              <a:rPr lang="en-US" sz="1080" dirty="0">
                <a:solidFill>
                  <a:srgbClr val="5F6070"/>
                </a:solidFill>
              </a:rPr>
              <a:t>Fixed DAY_OF_WEEK sorting</a:t>
            </a:r>
            <a:endParaRPr lang="en-US" sz="1080" dirty="0"/>
          </a:p>
        </p:txBody>
      </p:sp>
      <p:sp>
        <p:nvSpPr>
          <p:cNvPr id="17" name="Shape 15"/>
          <p:cNvSpPr/>
          <p:nvPr/>
        </p:nvSpPr>
        <p:spPr>
          <a:xfrm>
            <a:off x="7174484" y="1600200"/>
            <a:ext cx="1234440" cy="0"/>
          </a:xfrm>
          <a:prstGeom prst="line">
            <a:avLst/>
          </a:prstGeom>
          <a:noFill/>
          <a:ln w="17780">
            <a:solidFill>
              <a:srgbClr val="BFB8D5"/>
            </a:solidFill>
            <a:prstDash val="solid"/>
          </a:ln>
        </p:spPr>
        <p:txBody>
          <a:bodyPr/>
          <a:lstStyle/>
          <a:p>
            <a:endParaRPr lang="en-US"/>
          </a:p>
        </p:txBody>
      </p:sp>
      <p:sp>
        <p:nvSpPr>
          <p:cNvPr id="18" name="Text 16"/>
          <p:cNvSpPr/>
          <p:nvPr/>
        </p:nvSpPr>
        <p:spPr>
          <a:xfrm>
            <a:off x="8847836" y="1417320"/>
            <a:ext cx="411480" cy="320040"/>
          </a:xfrm>
          <a:prstGeom prst="rect">
            <a:avLst/>
          </a:prstGeom>
          <a:noFill/>
          <a:ln/>
        </p:spPr>
        <p:txBody>
          <a:bodyPr wrap="square" lIns="0" tIns="0" rIns="0" bIns="0" rtlCol="0" anchor="ctr"/>
          <a:lstStyle/>
          <a:p>
            <a:pPr marL="0" indent="0" algn="ctr">
              <a:buNone/>
            </a:pPr>
            <a:r>
              <a:rPr lang="en-US" sz="2000" b="1" dirty="0">
                <a:solidFill>
                  <a:srgbClr val="17264A"/>
                </a:solidFill>
              </a:rPr>
              <a:t>4</a:t>
            </a:r>
            <a:endParaRPr lang="en-US" sz="2000" dirty="0"/>
          </a:p>
        </p:txBody>
      </p:sp>
      <p:sp>
        <p:nvSpPr>
          <p:cNvPr id="19" name="Text 17"/>
          <p:cNvSpPr/>
          <p:nvPr/>
        </p:nvSpPr>
        <p:spPr>
          <a:xfrm>
            <a:off x="8527796" y="1920240"/>
            <a:ext cx="1325880" cy="228600"/>
          </a:xfrm>
          <a:prstGeom prst="rect">
            <a:avLst/>
          </a:prstGeom>
          <a:noFill/>
          <a:ln/>
        </p:spPr>
        <p:txBody>
          <a:bodyPr wrap="square" lIns="0" tIns="0" rIns="0" bIns="0" rtlCol="0" anchor="ctr">
            <a:normAutofit/>
          </a:bodyPr>
          <a:lstStyle/>
          <a:p>
            <a:r>
              <a:rPr lang="en-US" sz="1300" b="1" dirty="0">
                <a:solidFill>
                  <a:srgbClr val="262637"/>
                </a:solidFill>
              </a:rPr>
              <a:t>Extra fields</a:t>
            </a:r>
            <a:endParaRPr lang="en-US" sz="1300" dirty="0"/>
          </a:p>
        </p:txBody>
      </p:sp>
      <p:sp>
        <p:nvSpPr>
          <p:cNvPr id="20" name="Text 18"/>
          <p:cNvSpPr/>
          <p:nvPr/>
        </p:nvSpPr>
        <p:spPr>
          <a:xfrm>
            <a:off x="8344916" y="2267712"/>
            <a:ext cx="1737360" cy="411480"/>
          </a:xfrm>
          <a:prstGeom prst="rect">
            <a:avLst/>
          </a:prstGeom>
          <a:noFill/>
          <a:ln/>
        </p:spPr>
        <p:txBody>
          <a:bodyPr wrap="square" lIns="0" tIns="0" rIns="0" bIns="0" rtlCol="0" anchor="t">
            <a:normAutofit/>
          </a:bodyPr>
          <a:lstStyle/>
          <a:p>
            <a:pPr algn="ctr"/>
            <a:r>
              <a:rPr lang="en-US" sz="1080" dirty="0">
                <a:solidFill>
                  <a:srgbClr val="5F6070"/>
                </a:solidFill>
              </a:rPr>
              <a:t>Created TIME_PERIOD and DAY_TYPE</a:t>
            </a:r>
            <a:endParaRPr lang="en-US" sz="1080" dirty="0"/>
          </a:p>
        </p:txBody>
      </p:sp>
      <p:sp>
        <p:nvSpPr>
          <p:cNvPr id="25" name="Text 23"/>
          <p:cNvSpPr/>
          <p:nvPr/>
        </p:nvSpPr>
        <p:spPr>
          <a:xfrm>
            <a:off x="731520" y="3886200"/>
            <a:ext cx="365760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Final cleaning result</a:t>
            </a:r>
            <a:endParaRPr lang="en-US" sz="1600" dirty="0"/>
          </a:p>
        </p:txBody>
      </p:sp>
      <p:sp>
        <p:nvSpPr>
          <p:cNvPr id="26" name="Text 24"/>
          <p:cNvSpPr/>
          <p:nvPr/>
        </p:nvSpPr>
        <p:spPr>
          <a:xfrm>
            <a:off x="731520" y="4297680"/>
            <a:ext cx="10789920" cy="960118"/>
          </a:xfrm>
          <a:prstGeom prst="rect">
            <a:avLst/>
          </a:prstGeom>
          <a:noFill/>
          <a:ln/>
        </p:spPr>
        <p:txBody>
          <a:bodyPr wrap="square" lIns="254" tIns="254" rIns="254" bIns="254" rtlCol="0" anchor="t">
            <a:normAutofit/>
          </a:bodyPr>
          <a:lstStyle/>
          <a:p>
            <a:pPr marL="152400" indent="-152400">
              <a:buSzPct val="100000"/>
              <a:buChar char="•"/>
            </a:pPr>
            <a:r>
              <a:rPr lang="en-US" sz="1300" dirty="0">
                <a:solidFill>
                  <a:srgbClr val="262637"/>
                </a:solidFill>
              </a:rPr>
              <a:t>Final dataset: 60,215 rows × 25 columns</a:t>
            </a:r>
            <a:endParaRPr lang="en-US" sz="1300" dirty="0"/>
          </a:p>
          <a:p>
            <a:pPr marL="152400" indent="-152400">
              <a:buSzPct val="100000"/>
              <a:buChar char="•"/>
            </a:pPr>
            <a:r>
              <a:rPr lang="en-US" sz="1300" dirty="0">
                <a:solidFill>
                  <a:srgbClr val="262637"/>
                </a:solidFill>
              </a:rPr>
              <a:t>No </a:t>
            </a:r>
            <a:r>
              <a:rPr lang="en-US" sz="1300">
                <a:solidFill>
                  <a:srgbClr val="262637"/>
                </a:solidFill>
              </a:rPr>
              <a:t>missing values, </a:t>
            </a:r>
            <a:r>
              <a:rPr lang="en-US" sz="1300" dirty="0">
                <a:solidFill>
                  <a:srgbClr val="262637"/>
                </a:solidFill>
              </a:rPr>
              <a:t>No duplicate rows and no duplicate ACCIDENT_NO</a:t>
            </a:r>
            <a:endParaRPr lang="en-US" sz="1300" dirty="0"/>
          </a:p>
          <a:p>
            <a:pPr marL="152400" indent="-152400">
              <a:buSzPct val="100000"/>
              <a:buChar char="•"/>
            </a:pPr>
            <a:r>
              <a:rPr lang="en-US" sz="1300" dirty="0">
                <a:solidFill>
                  <a:srgbClr val="262637"/>
                </a:solidFill>
              </a:rPr>
              <a:t>No invalid parsed dates</a:t>
            </a:r>
            <a:endParaRPr lang="en-US" sz="1300" dirty="0"/>
          </a:p>
          <a:p>
            <a:pPr marL="152400" indent="-152400">
              <a:buSzPct val="100000"/>
              <a:buChar char="•"/>
            </a:pPr>
            <a:r>
              <a:rPr lang="en-US" sz="1300" dirty="0">
                <a:solidFill>
                  <a:srgbClr val="262637"/>
                </a:solidFill>
              </a:rPr>
              <a:t>DAY_OF_WEEK and DAY_WEEK_DESC fully aligned</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Data Quality &amp; Distribution Checks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08</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685800" y="1078992"/>
            <a:ext cx="365760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Data quality results</a:t>
            </a:r>
            <a:endParaRPr lang="en-US" sz="1600" dirty="0"/>
          </a:p>
        </p:txBody>
      </p:sp>
      <p:sp>
        <p:nvSpPr>
          <p:cNvPr id="7" name="Text 5"/>
          <p:cNvSpPr/>
          <p:nvPr/>
        </p:nvSpPr>
        <p:spPr>
          <a:xfrm>
            <a:off x="685800" y="1508760"/>
            <a:ext cx="5074920" cy="1737360"/>
          </a:xfrm>
          <a:prstGeom prst="rect">
            <a:avLst/>
          </a:prstGeom>
          <a:noFill/>
          <a:ln/>
        </p:spPr>
        <p:txBody>
          <a:bodyPr wrap="square" lIns="254" tIns="254" rIns="254" bIns="254" rtlCol="0" anchor="t">
            <a:normAutofit/>
          </a:bodyPr>
          <a:lstStyle/>
          <a:p>
            <a:pPr marL="152400" indent="-152400">
              <a:buSzPct val="100000"/>
              <a:buChar char="•"/>
            </a:pPr>
            <a:r>
              <a:rPr lang="en-US" sz="1260" dirty="0">
                <a:solidFill>
                  <a:srgbClr val="262637"/>
                </a:solidFill>
              </a:rPr>
              <a:t>Missing values = 0</a:t>
            </a:r>
            <a:endParaRPr lang="en-US" sz="1260" dirty="0"/>
          </a:p>
          <a:p>
            <a:pPr marL="152400" indent="-152400">
              <a:buSzPct val="100000"/>
              <a:buChar char="•"/>
            </a:pPr>
            <a:r>
              <a:rPr lang="en-US" sz="1260" dirty="0">
                <a:solidFill>
                  <a:srgbClr val="262637"/>
                </a:solidFill>
              </a:rPr>
              <a:t>Duplicate rows = 0</a:t>
            </a:r>
            <a:endParaRPr lang="en-US" sz="1260" dirty="0"/>
          </a:p>
          <a:p>
            <a:pPr marL="152400" indent="-152400">
              <a:buSzPct val="100000"/>
              <a:buChar char="•"/>
            </a:pPr>
            <a:r>
              <a:rPr lang="en-US" sz="1260" dirty="0">
                <a:solidFill>
                  <a:srgbClr val="262637"/>
                </a:solidFill>
              </a:rPr>
              <a:t>Duplicate ACCIDENT_NO = 0</a:t>
            </a:r>
            <a:endParaRPr lang="en-US" sz="1260" dirty="0"/>
          </a:p>
          <a:p>
            <a:pPr marL="152400" indent="-152400">
              <a:buSzPct val="100000"/>
              <a:buChar char="•"/>
            </a:pPr>
            <a:r>
              <a:rPr lang="en-US" sz="1260" dirty="0">
                <a:solidFill>
                  <a:srgbClr val="262637"/>
                </a:solidFill>
              </a:rPr>
              <a:t>Invalid dates = 0</a:t>
            </a:r>
            <a:endParaRPr lang="en-US" sz="1260" dirty="0"/>
          </a:p>
          <a:p>
            <a:pPr marL="152400" indent="-152400">
              <a:buSzPct val="100000"/>
              <a:buChar char="•"/>
            </a:pPr>
            <a:r>
              <a:rPr lang="en-US" sz="1260" dirty="0">
                <a:solidFill>
                  <a:srgbClr val="262637"/>
                </a:solidFill>
              </a:rPr>
              <a:t>Day crosstab total = dataframe total (60,215)</a:t>
            </a:r>
            <a:endParaRPr lang="en-US" sz="1260" dirty="0"/>
          </a:p>
          <a:p>
            <a:pPr marL="152400" indent="-152400">
              <a:buSzPct val="100000"/>
              <a:buChar char="•"/>
            </a:pPr>
            <a:r>
              <a:rPr lang="en-US" sz="1260" dirty="0">
                <a:solidFill>
                  <a:srgbClr val="262637"/>
                </a:solidFill>
              </a:rPr>
              <a:t>Unknown road geometry = 95 records (0.16%)</a:t>
            </a:r>
            <a:endParaRPr lang="en-US" sz="1260" dirty="0"/>
          </a:p>
        </p:txBody>
      </p:sp>
      <p:sp>
        <p:nvSpPr>
          <p:cNvPr id="8" name="Text 6"/>
          <p:cNvSpPr/>
          <p:nvPr/>
        </p:nvSpPr>
        <p:spPr>
          <a:xfrm>
            <a:off x="6172200" y="1078992"/>
            <a:ext cx="3657600" cy="274320"/>
          </a:xfrm>
          <a:prstGeom prst="rect">
            <a:avLst/>
          </a:prstGeom>
          <a:noFill/>
          <a:ln/>
        </p:spPr>
        <p:txBody>
          <a:bodyPr wrap="square" lIns="0" tIns="0" rIns="0" bIns="0" rtlCol="0" anchor="ctr">
            <a:normAutofit/>
          </a:bodyPr>
          <a:lstStyle/>
          <a:p>
            <a:pPr marL="0" indent="0">
              <a:buNone/>
            </a:pPr>
            <a:r>
              <a:rPr lang="en-US" sz="1600" b="1" dirty="0">
                <a:solidFill>
                  <a:srgbClr val="7160B8"/>
                </a:solidFill>
              </a:rPr>
              <a:t>Distribution observations</a:t>
            </a:r>
            <a:endParaRPr lang="en-US" sz="1600" dirty="0"/>
          </a:p>
        </p:txBody>
      </p:sp>
      <p:sp>
        <p:nvSpPr>
          <p:cNvPr id="9" name="Text 7"/>
          <p:cNvSpPr/>
          <p:nvPr/>
        </p:nvSpPr>
        <p:spPr>
          <a:xfrm>
            <a:off x="6172200" y="1508760"/>
            <a:ext cx="5166360" cy="1828800"/>
          </a:xfrm>
          <a:prstGeom prst="rect">
            <a:avLst/>
          </a:prstGeom>
          <a:noFill/>
          <a:ln/>
        </p:spPr>
        <p:txBody>
          <a:bodyPr wrap="square" lIns="254" tIns="254" rIns="254" bIns="254" rtlCol="0" anchor="t">
            <a:normAutofit/>
          </a:bodyPr>
          <a:lstStyle/>
          <a:p>
            <a:pPr marL="152400" indent="-152400">
              <a:buSzPct val="100000"/>
              <a:buChar char="•"/>
            </a:pPr>
            <a:r>
              <a:rPr lang="en-US" sz="1260" dirty="0">
                <a:solidFill>
                  <a:srgbClr val="262637"/>
                </a:solidFill>
              </a:rPr>
              <a:t>Severity: 1,021 fatal; 22,073 serious; 37,117 other injury</a:t>
            </a:r>
            <a:endParaRPr lang="en-US" sz="1260" dirty="0"/>
          </a:p>
          <a:p>
            <a:pPr marL="152400" indent="-152400">
              <a:buSzPct val="100000"/>
              <a:buChar char="•"/>
            </a:pPr>
            <a:r>
              <a:rPr lang="en-US" sz="1260" dirty="0">
                <a:solidFill>
                  <a:srgbClr val="262637"/>
                </a:solidFill>
              </a:rPr>
              <a:t>Speed zone 60 km/h recorded the highest count: 21,511</a:t>
            </a:r>
            <a:endParaRPr lang="en-US" sz="1260" dirty="0"/>
          </a:p>
          <a:p>
            <a:pPr marL="152400" indent="-152400">
              <a:buSzPct val="100000"/>
              <a:buChar char="•"/>
            </a:pPr>
            <a:r>
              <a:rPr lang="en-US" sz="1260" dirty="0">
                <a:solidFill>
                  <a:srgbClr val="262637"/>
                </a:solidFill>
              </a:rPr>
              <a:t>Road geometry dominated by “Not at intersection” (31,749)</a:t>
            </a:r>
            <a:endParaRPr lang="en-US" sz="1260" dirty="0"/>
          </a:p>
          <a:p>
            <a:pPr marL="152400" indent="-152400">
              <a:buSzPct val="100000"/>
              <a:buChar char="•"/>
            </a:pPr>
            <a:r>
              <a:rPr lang="en-US" sz="1260" dirty="0">
                <a:solidFill>
                  <a:srgbClr val="262637"/>
                </a:solidFill>
              </a:rPr>
              <a:t>RMA dominated by Arterial Other and Local Road, both above 22K</a:t>
            </a:r>
            <a:endParaRPr lang="en-US" sz="1260" dirty="0"/>
          </a:p>
          <a:p>
            <a:pPr marL="152400" indent="-152400">
              <a:buSzPct val="100000"/>
              <a:buChar char="•"/>
            </a:pPr>
            <a:r>
              <a:rPr lang="en-US" sz="1260" dirty="0">
                <a:solidFill>
                  <a:srgbClr val="262637"/>
                </a:solidFill>
              </a:rPr>
              <a:t>Shapiro-Wilk checks indicated the numeric-coded variables were not normally distributed</a:t>
            </a:r>
            <a:endParaRPr lang="en-US" sz="1260" dirty="0"/>
          </a:p>
        </p:txBody>
      </p:sp>
      <p:sp>
        <p:nvSpPr>
          <p:cNvPr id="10" name="Text 8"/>
          <p:cNvSpPr/>
          <p:nvPr/>
        </p:nvSpPr>
        <p:spPr>
          <a:xfrm>
            <a:off x="685800" y="4297680"/>
            <a:ext cx="3291840" cy="274320"/>
          </a:xfrm>
          <a:prstGeom prst="rect">
            <a:avLst/>
          </a:prstGeom>
          <a:noFill/>
          <a:ln/>
        </p:spPr>
        <p:txBody>
          <a:bodyPr wrap="square" lIns="0" tIns="0" rIns="0" bIns="0" rtlCol="0" anchor="ctr">
            <a:normAutofit/>
          </a:bodyPr>
          <a:lstStyle/>
          <a:p>
            <a:pPr marL="0" indent="0">
              <a:buNone/>
            </a:pPr>
            <a:r>
              <a:rPr lang="en-US" sz="1600" b="1" dirty="0">
                <a:solidFill>
                  <a:srgbClr val="8EC8C5"/>
                </a:solidFill>
              </a:rPr>
              <a:t>Method implication</a:t>
            </a:r>
            <a:endParaRPr lang="en-US" sz="1600" dirty="0"/>
          </a:p>
        </p:txBody>
      </p:sp>
      <p:sp>
        <p:nvSpPr>
          <p:cNvPr id="11" name="Text 9"/>
          <p:cNvSpPr/>
          <p:nvPr/>
        </p:nvSpPr>
        <p:spPr>
          <a:xfrm>
            <a:off x="685800" y="4709160"/>
            <a:ext cx="10424160" cy="713232"/>
          </a:xfrm>
          <a:prstGeom prst="rect">
            <a:avLst/>
          </a:prstGeom>
          <a:noFill/>
          <a:ln/>
        </p:spPr>
        <p:txBody>
          <a:bodyPr wrap="square" lIns="0" tIns="0" rIns="0" bIns="0" rtlCol="0" anchor="t">
            <a:normAutofit/>
          </a:bodyPr>
          <a:lstStyle/>
          <a:p>
            <a:pPr marL="0" indent="0" algn="l">
              <a:buNone/>
            </a:pPr>
            <a:r>
              <a:rPr lang="en-US" sz="1400" dirty="0">
                <a:solidFill>
                  <a:srgbClr val="262637"/>
                </a:solidFill>
              </a:rPr>
              <a:t>Because the dataset is dominated by categorical and discrete coded variables, the analysis prioritizes counts, crosstabs, heatmaps, severe accident rate and hotspot mapping instead of relying on normal-distribution assumptions.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Power BI Dashboard Structure</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09</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594360" y="987552"/>
            <a:ext cx="10789920" cy="256032"/>
          </a:xfrm>
          <a:prstGeom prst="rect">
            <a:avLst/>
          </a:prstGeom>
          <a:noFill/>
          <a:ln/>
        </p:spPr>
        <p:txBody>
          <a:bodyPr wrap="square" lIns="0" tIns="0" rIns="0" bIns="0" rtlCol="0" anchor="t">
            <a:normAutofit/>
          </a:bodyPr>
          <a:lstStyle/>
          <a:p>
            <a:pPr marL="0" indent="0" algn="l">
              <a:buNone/>
            </a:pPr>
            <a:r>
              <a:rPr lang="en-US" sz="1400" dirty="0">
                <a:solidFill>
                  <a:srgbClr val="5F6070"/>
                </a:solidFill>
              </a:rPr>
              <a:t>Four dashboard pages were built to separate the story by purpose: overview, cause analysis, severity relationships, and location hotspots.</a:t>
            </a:r>
            <a:endParaRPr lang="en-US" sz="1400" dirty="0"/>
          </a:p>
        </p:txBody>
      </p:sp>
      <p:pic>
        <p:nvPicPr>
          <p:cNvPr id="7" name="Image 0" descr="/mnt/data/dashboard_main_crop.png"/>
          <p:cNvPicPr>
            <a:picLocks noChangeAspect="1"/>
          </p:cNvPicPr>
          <p:nvPr/>
        </p:nvPicPr>
        <p:blipFill>
          <a:blip r:embed="rId3"/>
          <a:stretch>
            <a:fillRect/>
          </a:stretch>
        </p:blipFill>
        <p:spPr>
          <a:xfrm>
            <a:off x="1256064" y="1444752"/>
            <a:ext cx="4117271" cy="2331720"/>
          </a:xfrm>
          <a:prstGeom prst="rect">
            <a:avLst/>
          </a:prstGeom>
        </p:spPr>
      </p:pic>
      <p:sp>
        <p:nvSpPr>
          <p:cNvPr id="8" name="Shape 5"/>
          <p:cNvSpPr/>
          <p:nvPr/>
        </p:nvSpPr>
        <p:spPr>
          <a:xfrm>
            <a:off x="640080" y="1444752"/>
            <a:ext cx="5349240" cy="2331720"/>
          </a:xfrm>
          <a:prstGeom prst="rect">
            <a:avLst/>
          </a:prstGeom>
          <a:solidFill>
            <a:srgbClr val="FFFFFF">
              <a:alpha val="0"/>
            </a:srgbClr>
          </a:solidFill>
          <a:ln w="12700">
            <a:solidFill>
              <a:srgbClr val="E1DCEB"/>
            </a:solidFill>
            <a:prstDash val="solid"/>
          </a:ln>
        </p:spPr>
        <p:txBody>
          <a:bodyPr/>
          <a:lstStyle/>
          <a:p>
            <a:endParaRPr lang="en-US"/>
          </a:p>
        </p:txBody>
      </p:sp>
      <p:pic>
        <p:nvPicPr>
          <p:cNvPr id="9" name="Image 1" descr="/mnt/data/cause_overview_crop.png"/>
          <p:cNvPicPr>
            <a:picLocks noChangeAspect="1"/>
          </p:cNvPicPr>
          <p:nvPr/>
        </p:nvPicPr>
        <p:blipFill>
          <a:blip r:embed="rId4"/>
          <a:stretch>
            <a:fillRect/>
          </a:stretch>
        </p:blipFill>
        <p:spPr>
          <a:xfrm>
            <a:off x="6833904" y="1444752"/>
            <a:ext cx="4117271" cy="2331720"/>
          </a:xfrm>
          <a:prstGeom prst="rect">
            <a:avLst/>
          </a:prstGeom>
        </p:spPr>
      </p:pic>
      <p:sp>
        <p:nvSpPr>
          <p:cNvPr id="10" name="Shape 6"/>
          <p:cNvSpPr/>
          <p:nvPr/>
        </p:nvSpPr>
        <p:spPr>
          <a:xfrm>
            <a:off x="6217920" y="1444752"/>
            <a:ext cx="5349240" cy="2331720"/>
          </a:xfrm>
          <a:prstGeom prst="rect">
            <a:avLst/>
          </a:prstGeom>
          <a:solidFill>
            <a:srgbClr val="FFFFFF">
              <a:alpha val="0"/>
            </a:srgbClr>
          </a:solidFill>
          <a:ln w="12700">
            <a:solidFill>
              <a:srgbClr val="E1DCEB"/>
            </a:solidFill>
            <a:prstDash val="solid"/>
          </a:ln>
        </p:spPr>
        <p:txBody>
          <a:bodyPr/>
          <a:lstStyle/>
          <a:p>
            <a:endParaRPr lang="en-US"/>
          </a:p>
        </p:txBody>
      </p:sp>
      <p:pic>
        <p:nvPicPr>
          <p:cNvPr id="11" name="Image 2" descr="/mnt/data/severity_relationship_crop.png"/>
          <p:cNvPicPr>
            <a:picLocks noChangeAspect="1"/>
          </p:cNvPicPr>
          <p:nvPr/>
        </p:nvPicPr>
        <p:blipFill>
          <a:blip r:embed="rId5"/>
          <a:stretch>
            <a:fillRect/>
          </a:stretch>
        </p:blipFill>
        <p:spPr>
          <a:xfrm>
            <a:off x="1551214" y="3977640"/>
            <a:ext cx="3526971" cy="2057400"/>
          </a:xfrm>
          <a:prstGeom prst="rect">
            <a:avLst/>
          </a:prstGeom>
        </p:spPr>
      </p:pic>
      <p:sp>
        <p:nvSpPr>
          <p:cNvPr id="12" name="Shape 7"/>
          <p:cNvSpPr/>
          <p:nvPr/>
        </p:nvSpPr>
        <p:spPr>
          <a:xfrm>
            <a:off x="640080" y="3977640"/>
            <a:ext cx="5349240" cy="2057400"/>
          </a:xfrm>
          <a:prstGeom prst="rect">
            <a:avLst/>
          </a:prstGeom>
          <a:solidFill>
            <a:srgbClr val="FFFFFF">
              <a:alpha val="0"/>
            </a:srgbClr>
          </a:solidFill>
          <a:ln w="12700">
            <a:solidFill>
              <a:srgbClr val="E1DCEB"/>
            </a:solidFill>
            <a:prstDash val="solid"/>
          </a:ln>
        </p:spPr>
        <p:txBody>
          <a:bodyPr/>
          <a:lstStyle/>
          <a:p>
            <a:endParaRPr lang="en-US"/>
          </a:p>
        </p:txBody>
      </p:sp>
      <p:pic>
        <p:nvPicPr>
          <p:cNvPr id="13" name="Image 3" descr="/mnt/data/hotspot_map_crop.png"/>
          <p:cNvPicPr>
            <a:picLocks noChangeAspect="1"/>
          </p:cNvPicPr>
          <p:nvPr/>
        </p:nvPicPr>
        <p:blipFill>
          <a:blip r:embed="rId6"/>
          <a:stretch>
            <a:fillRect/>
          </a:stretch>
        </p:blipFill>
        <p:spPr>
          <a:xfrm>
            <a:off x="7136892" y="3977640"/>
            <a:ext cx="3511296" cy="2057400"/>
          </a:xfrm>
          <a:prstGeom prst="rect">
            <a:avLst/>
          </a:prstGeom>
        </p:spPr>
      </p:pic>
      <p:sp>
        <p:nvSpPr>
          <p:cNvPr id="14" name="Shape 8"/>
          <p:cNvSpPr/>
          <p:nvPr/>
        </p:nvSpPr>
        <p:spPr>
          <a:xfrm>
            <a:off x="6217920" y="3977640"/>
            <a:ext cx="5349240" cy="2057400"/>
          </a:xfrm>
          <a:prstGeom prst="rect">
            <a:avLst/>
          </a:prstGeom>
          <a:solidFill>
            <a:srgbClr val="FFFFFF">
              <a:alpha val="0"/>
            </a:srgbClr>
          </a:solidFill>
          <a:ln w="12700">
            <a:solidFill>
              <a:srgbClr val="E1DCEB"/>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Crash Trend Patterns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10</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pic>
        <p:nvPicPr>
          <p:cNvPr id="6" name="Image 0" descr="/mnt/data/dashboard_main_crop.png"/>
          <p:cNvPicPr>
            <a:picLocks noChangeAspect="1"/>
          </p:cNvPicPr>
          <p:nvPr/>
        </p:nvPicPr>
        <p:blipFill>
          <a:blip r:embed="rId3"/>
          <a:stretch>
            <a:fillRect/>
          </a:stretch>
        </p:blipFill>
        <p:spPr>
          <a:xfrm>
            <a:off x="594360" y="1855042"/>
            <a:ext cx="6446520" cy="3650835"/>
          </a:xfrm>
          <a:prstGeom prst="rect">
            <a:avLst/>
          </a:prstGeom>
        </p:spPr>
      </p:pic>
      <p:sp>
        <p:nvSpPr>
          <p:cNvPr id="7" name="Shape 4"/>
          <p:cNvSpPr/>
          <p:nvPr/>
        </p:nvSpPr>
        <p:spPr>
          <a:xfrm>
            <a:off x="594360" y="1143000"/>
            <a:ext cx="6446520" cy="5074920"/>
          </a:xfrm>
          <a:prstGeom prst="rect">
            <a:avLst/>
          </a:prstGeom>
          <a:solidFill>
            <a:srgbClr val="FFFFFF">
              <a:alpha val="0"/>
            </a:srgbClr>
          </a:solidFill>
          <a:ln w="12700">
            <a:solidFill>
              <a:srgbClr val="E1DCEB"/>
            </a:solidFill>
            <a:prstDash val="solid"/>
          </a:ln>
        </p:spPr>
        <p:txBody>
          <a:bodyPr/>
          <a:lstStyle/>
          <a:p>
            <a:endParaRPr lang="en-US"/>
          </a:p>
        </p:txBody>
      </p:sp>
      <p:sp>
        <p:nvSpPr>
          <p:cNvPr id="8" name="Text 5"/>
          <p:cNvSpPr/>
          <p:nvPr/>
        </p:nvSpPr>
        <p:spPr>
          <a:xfrm>
            <a:off x="7406640" y="1170432"/>
            <a:ext cx="347472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Key results</a:t>
            </a:r>
            <a:endParaRPr lang="en-US" sz="1700" dirty="0"/>
          </a:p>
        </p:txBody>
      </p:sp>
      <p:sp>
        <p:nvSpPr>
          <p:cNvPr id="9" name="Text 6"/>
          <p:cNvSpPr/>
          <p:nvPr/>
        </p:nvSpPr>
        <p:spPr>
          <a:xfrm>
            <a:off x="7406640" y="1600200"/>
            <a:ext cx="4023360" cy="2468880"/>
          </a:xfrm>
          <a:prstGeom prst="rect">
            <a:avLst/>
          </a:prstGeom>
          <a:noFill/>
          <a:ln/>
        </p:spPr>
        <p:txBody>
          <a:bodyPr wrap="square" lIns="254" tIns="254" rIns="254" bIns="254" rtlCol="0" anchor="t">
            <a:normAutofit/>
          </a:bodyPr>
          <a:lstStyle/>
          <a:p>
            <a:pPr marL="152400" indent="-152400">
              <a:buSzPct val="100000"/>
              <a:buChar char="•"/>
            </a:pPr>
            <a:r>
              <a:rPr lang="en-US" sz="1280" dirty="0">
                <a:solidFill>
                  <a:srgbClr val="262637"/>
                </a:solidFill>
              </a:rPr>
              <a:t>Afternoon peak is the largest time-period group: 18.835 accidents (31.28%).</a:t>
            </a:r>
            <a:endParaRPr lang="en-US" sz="1280" dirty="0"/>
          </a:p>
          <a:p>
            <a:pPr marL="152400" indent="-152400">
              <a:buSzPct val="100000"/>
              <a:buChar char="•"/>
            </a:pPr>
            <a:r>
              <a:rPr lang="en-US" sz="1280" dirty="0">
                <a:solidFill>
                  <a:srgbClr val="262637"/>
                </a:solidFill>
              </a:rPr>
              <a:t>Midday is also high: about 17666 accidents (29.34%).</a:t>
            </a:r>
            <a:endParaRPr lang="en-US" sz="1280" dirty="0"/>
          </a:p>
          <a:p>
            <a:pPr marL="152400" indent="-152400">
              <a:buSzPct val="100000"/>
              <a:buChar char="•"/>
            </a:pPr>
            <a:r>
              <a:rPr lang="en-US" sz="1280" dirty="0">
                <a:solidFill>
                  <a:srgbClr val="262637"/>
                </a:solidFill>
              </a:rPr>
              <a:t>Hourly pattern peaks around afternoon commuting hours.</a:t>
            </a:r>
            <a:endParaRPr lang="en-US" sz="1280" dirty="0"/>
          </a:p>
          <a:p>
            <a:pPr marL="152400" indent="-152400">
              <a:buSzPct val="100000"/>
              <a:buChar char="•"/>
            </a:pPr>
            <a:r>
              <a:rPr lang="en-US" sz="1280" dirty="0">
                <a:solidFill>
                  <a:srgbClr val="262637"/>
                </a:solidFill>
              </a:rPr>
              <a:t>Friday is the highest day; Sunday is the lowest.</a:t>
            </a:r>
            <a:endParaRPr lang="en-US" sz="1280" dirty="0"/>
          </a:p>
          <a:p>
            <a:pPr marL="152400" indent="-152400">
              <a:buSzPct val="100000"/>
              <a:buChar char="•"/>
            </a:pPr>
            <a:r>
              <a:rPr lang="en-US" sz="1280" dirty="0">
                <a:solidFill>
                  <a:srgbClr val="262637"/>
                </a:solidFill>
              </a:rPr>
              <a:t>Weekday totals exceed weekend totals, but exposure should be considered because weekdays cover more days.</a:t>
            </a:r>
            <a:endParaRPr lang="en-US" sz="1280" dirty="0"/>
          </a:p>
        </p:txBody>
      </p:sp>
      <p:sp>
        <p:nvSpPr>
          <p:cNvPr id="10" name="Text 7"/>
          <p:cNvSpPr/>
          <p:nvPr/>
        </p:nvSpPr>
        <p:spPr>
          <a:xfrm>
            <a:off x="7406640" y="4617720"/>
            <a:ext cx="2743200" cy="274320"/>
          </a:xfrm>
          <a:prstGeom prst="rect">
            <a:avLst/>
          </a:prstGeom>
          <a:noFill/>
          <a:ln/>
        </p:spPr>
        <p:txBody>
          <a:bodyPr wrap="square" lIns="0" tIns="0" rIns="0" bIns="0" rtlCol="0" anchor="ctr">
            <a:normAutofit/>
          </a:bodyPr>
          <a:lstStyle/>
          <a:p>
            <a:r>
              <a:rPr lang="en-US" sz="1500" b="1" dirty="0">
                <a:solidFill>
                  <a:srgbClr val="8EC8C5"/>
                </a:solidFill>
              </a:rPr>
              <a:t>Interpretation</a:t>
            </a:r>
            <a:endParaRPr lang="en-US" sz="1500" dirty="0"/>
          </a:p>
        </p:txBody>
      </p:sp>
      <p:sp>
        <p:nvSpPr>
          <p:cNvPr id="11" name="Text 8"/>
          <p:cNvSpPr/>
          <p:nvPr/>
        </p:nvSpPr>
        <p:spPr>
          <a:xfrm>
            <a:off x="7406640" y="4983480"/>
            <a:ext cx="3977640" cy="685800"/>
          </a:xfrm>
          <a:prstGeom prst="rect">
            <a:avLst/>
          </a:prstGeom>
          <a:noFill/>
          <a:ln/>
        </p:spPr>
        <p:txBody>
          <a:bodyPr wrap="square" lIns="0" tIns="0" rIns="0" bIns="0" rtlCol="0" anchor="t">
            <a:normAutofit/>
          </a:bodyPr>
          <a:lstStyle/>
          <a:p>
            <a:pPr marL="0" indent="0" algn="l">
              <a:buNone/>
            </a:pPr>
            <a:r>
              <a:rPr lang="en-US" sz="1240" dirty="0">
                <a:solidFill>
                  <a:srgbClr val="5F6070"/>
                </a:solidFill>
              </a:rPr>
              <a:t>Crash risk is time-dependent. Peak-hour and Friday travel patterns are good targets for monitoring, enforcement and public messaging.</a:t>
            </a:r>
            <a:endParaRPr lang="en-US" sz="124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Accident Cause &amp; Road Authority Patterns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11</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pic>
        <p:nvPicPr>
          <p:cNvPr id="6" name="Image 0" descr="/mnt/data/cause_overview_crop.png"/>
          <p:cNvPicPr>
            <a:picLocks noChangeAspect="1"/>
          </p:cNvPicPr>
          <p:nvPr/>
        </p:nvPicPr>
        <p:blipFill>
          <a:blip r:embed="rId3"/>
          <a:stretch>
            <a:fillRect/>
          </a:stretch>
        </p:blipFill>
        <p:spPr>
          <a:xfrm>
            <a:off x="5623560" y="2030225"/>
            <a:ext cx="5989320" cy="3391911"/>
          </a:xfrm>
          <a:prstGeom prst="rect">
            <a:avLst/>
          </a:prstGeom>
        </p:spPr>
      </p:pic>
      <p:sp>
        <p:nvSpPr>
          <p:cNvPr id="7" name="Shape 4"/>
          <p:cNvSpPr/>
          <p:nvPr/>
        </p:nvSpPr>
        <p:spPr>
          <a:xfrm>
            <a:off x="5623560" y="1051560"/>
            <a:ext cx="5989320" cy="5349240"/>
          </a:xfrm>
          <a:prstGeom prst="rect">
            <a:avLst/>
          </a:prstGeom>
          <a:solidFill>
            <a:srgbClr val="FFFFFF">
              <a:alpha val="0"/>
            </a:srgbClr>
          </a:solidFill>
          <a:ln w="12700">
            <a:solidFill>
              <a:srgbClr val="E1DCEB"/>
            </a:solidFill>
            <a:prstDash val="solid"/>
          </a:ln>
        </p:spPr>
        <p:txBody>
          <a:bodyPr/>
          <a:lstStyle/>
          <a:p>
            <a:endParaRPr lang="en-US"/>
          </a:p>
        </p:txBody>
      </p:sp>
      <p:sp>
        <p:nvSpPr>
          <p:cNvPr id="8" name="Text 5"/>
          <p:cNvSpPr/>
          <p:nvPr/>
        </p:nvSpPr>
        <p:spPr>
          <a:xfrm>
            <a:off x="685800" y="1143000"/>
            <a:ext cx="274320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Key results</a:t>
            </a:r>
            <a:endParaRPr lang="en-US" sz="1700" dirty="0"/>
          </a:p>
        </p:txBody>
      </p:sp>
      <p:sp>
        <p:nvSpPr>
          <p:cNvPr id="9" name="Text 6"/>
          <p:cNvSpPr/>
          <p:nvPr/>
        </p:nvSpPr>
        <p:spPr>
          <a:xfrm>
            <a:off x="685800" y="1600200"/>
            <a:ext cx="4663440" cy="2514600"/>
          </a:xfrm>
          <a:prstGeom prst="rect">
            <a:avLst/>
          </a:prstGeom>
          <a:noFill/>
          <a:ln/>
        </p:spPr>
        <p:txBody>
          <a:bodyPr wrap="square" lIns="254" tIns="254" rIns="254" bIns="254" rtlCol="0" anchor="t">
            <a:normAutofit/>
          </a:bodyPr>
          <a:lstStyle/>
          <a:p>
            <a:pPr marL="152400" indent="-152400">
              <a:buSzPct val="100000"/>
              <a:buChar char="•"/>
            </a:pPr>
            <a:r>
              <a:rPr lang="en-US" sz="1280" dirty="0">
                <a:solidFill>
                  <a:srgbClr val="262637"/>
                </a:solidFill>
              </a:rPr>
              <a:t>Most common accident type: rear-end crashes in the same lane (11,238 records; 18.66%).</a:t>
            </a:r>
            <a:endParaRPr lang="en-US" sz="1280" dirty="0"/>
          </a:p>
          <a:p>
            <a:pPr marL="152400" indent="-152400">
              <a:buSzPct val="100000"/>
              <a:buChar char="•"/>
            </a:pPr>
            <a:r>
              <a:rPr lang="en-US" sz="1280" dirty="0">
                <a:solidFill>
                  <a:srgbClr val="262637"/>
                </a:solidFill>
              </a:rPr>
              <a:t>Other high-frequency patterns include right-through, cross-traffic at intersections, off-carriageway into objects/parked vehicles and right-near intersection crashes.</a:t>
            </a:r>
            <a:endParaRPr lang="en-US" sz="1280" dirty="0"/>
          </a:p>
          <a:p>
            <a:pPr marL="152400" indent="-152400">
              <a:buSzPct val="100000"/>
              <a:buChar char="•"/>
            </a:pPr>
            <a:r>
              <a:rPr lang="en-US" sz="1280" dirty="0">
                <a:solidFill>
                  <a:srgbClr val="262637"/>
                </a:solidFill>
              </a:rPr>
              <a:t>RMA distribution is concentrated in Arterial Other and Local Road categories, each above 22K crashes.</a:t>
            </a:r>
            <a:endParaRPr lang="en-US" sz="1280" dirty="0"/>
          </a:p>
          <a:p>
            <a:pPr marL="152400" indent="-152400">
              <a:buSzPct val="100000"/>
              <a:buChar char="•"/>
            </a:pPr>
            <a:r>
              <a:rPr lang="en-US" sz="1280" dirty="0">
                <a:solidFill>
                  <a:srgbClr val="262637"/>
                </a:solidFill>
              </a:rPr>
              <a:t>The DCA × Speed Zone heatmap shows many top accident types concentrated in 60 km/h zones.</a:t>
            </a:r>
            <a:endParaRPr lang="en-US" sz="1280" dirty="0"/>
          </a:p>
        </p:txBody>
      </p:sp>
      <p:sp>
        <p:nvSpPr>
          <p:cNvPr id="10" name="Text 7"/>
          <p:cNvSpPr/>
          <p:nvPr/>
        </p:nvSpPr>
        <p:spPr>
          <a:xfrm>
            <a:off x="685800" y="4709160"/>
            <a:ext cx="274320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Interpretation</a:t>
            </a:r>
            <a:endParaRPr lang="en-US" sz="1500" dirty="0"/>
          </a:p>
        </p:txBody>
      </p:sp>
      <p:sp>
        <p:nvSpPr>
          <p:cNvPr id="11" name="Text 8"/>
          <p:cNvSpPr/>
          <p:nvPr/>
        </p:nvSpPr>
        <p:spPr>
          <a:xfrm>
            <a:off x="685800" y="5074920"/>
            <a:ext cx="4663440" cy="685800"/>
          </a:xfrm>
          <a:prstGeom prst="rect">
            <a:avLst/>
          </a:prstGeom>
          <a:noFill/>
          <a:ln/>
        </p:spPr>
        <p:txBody>
          <a:bodyPr wrap="square" lIns="0" tIns="0" rIns="0" bIns="0" rtlCol="0" anchor="t">
            <a:normAutofit/>
          </a:bodyPr>
          <a:lstStyle/>
          <a:p>
            <a:pPr marL="0" indent="0" algn="l">
              <a:buNone/>
            </a:pPr>
            <a:r>
              <a:rPr lang="en-US" sz="1240" dirty="0">
                <a:solidFill>
                  <a:srgbClr val="5F6070"/>
                </a:solidFill>
              </a:rPr>
              <a:t>Rear-end and intersection-related patterns point to congestion, following distance, turning conflicts and intersection design as major crash themes.</a:t>
            </a:r>
            <a:endParaRPr lang="en-US" sz="124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Severity Relationship Heatmaps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12</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pic>
        <p:nvPicPr>
          <p:cNvPr id="6" name="Image 0" descr="/mnt/data/severity_relationship_crop.png"/>
          <p:cNvPicPr>
            <a:picLocks noChangeAspect="1"/>
          </p:cNvPicPr>
          <p:nvPr/>
        </p:nvPicPr>
        <p:blipFill>
          <a:blip r:embed="rId3"/>
          <a:stretch>
            <a:fillRect/>
          </a:stretch>
        </p:blipFill>
        <p:spPr>
          <a:xfrm>
            <a:off x="4754880" y="1699260"/>
            <a:ext cx="6949440" cy="4053840"/>
          </a:xfrm>
          <a:prstGeom prst="rect">
            <a:avLst/>
          </a:prstGeom>
        </p:spPr>
      </p:pic>
      <p:sp>
        <p:nvSpPr>
          <p:cNvPr id="7" name="Shape 4"/>
          <p:cNvSpPr/>
          <p:nvPr/>
        </p:nvSpPr>
        <p:spPr>
          <a:xfrm>
            <a:off x="4754880" y="1005840"/>
            <a:ext cx="6949440" cy="5440680"/>
          </a:xfrm>
          <a:prstGeom prst="rect">
            <a:avLst/>
          </a:prstGeom>
          <a:solidFill>
            <a:srgbClr val="FFFFFF">
              <a:alpha val="0"/>
            </a:srgbClr>
          </a:solidFill>
          <a:ln w="12700">
            <a:solidFill>
              <a:srgbClr val="E1DCEB"/>
            </a:solidFill>
            <a:prstDash val="solid"/>
          </a:ln>
        </p:spPr>
        <p:txBody>
          <a:bodyPr/>
          <a:lstStyle/>
          <a:p>
            <a:endParaRPr lang="en-US"/>
          </a:p>
        </p:txBody>
      </p:sp>
      <p:sp>
        <p:nvSpPr>
          <p:cNvPr id="8" name="Text 5"/>
          <p:cNvSpPr/>
          <p:nvPr/>
        </p:nvSpPr>
        <p:spPr>
          <a:xfrm>
            <a:off x="685800" y="1143000"/>
            <a:ext cx="320040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Severity summary</a:t>
            </a:r>
            <a:endParaRPr lang="en-US" sz="1700" dirty="0"/>
          </a:p>
        </p:txBody>
      </p:sp>
      <p:sp>
        <p:nvSpPr>
          <p:cNvPr id="9" name="Text 6"/>
          <p:cNvSpPr/>
          <p:nvPr/>
        </p:nvSpPr>
        <p:spPr>
          <a:xfrm>
            <a:off x="685800" y="1691640"/>
            <a:ext cx="1691640" cy="320040"/>
          </a:xfrm>
          <a:prstGeom prst="rect">
            <a:avLst/>
          </a:prstGeom>
          <a:noFill/>
          <a:ln/>
        </p:spPr>
        <p:txBody>
          <a:bodyPr wrap="square" lIns="0" tIns="0" rIns="0" bIns="0" rtlCol="0" anchor="ctr"/>
          <a:lstStyle/>
          <a:p>
            <a:pPr marL="0" indent="0" algn="ctr">
              <a:buNone/>
            </a:pPr>
            <a:r>
              <a:rPr lang="en-US" sz="2200" b="1" dirty="0">
                <a:solidFill>
                  <a:srgbClr val="B35B52"/>
                </a:solidFill>
              </a:rPr>
              <a:t>1,021</a:t>
            </a:r>
            <a:endParaRPr lang="en-US" sz="2200" dirty="0"/>
          </a:p>
        </p:txBody>
      </p:sp>
      <p:sp>
        <p:nvSpPr>
          <p:cNvPr id="10" name="Text 7"/>
          <p:cNvSpPr/>
          <p:nvPr/>
        </p:nvSpPr>
        <p:spPr>
          <a:xfrm>
            <a:off x="685800" y="2130552"/>
            <a:ext cx="1691640" cy="201168"/>
          </a:xfrm>
          <a:prstGeom prst="rect">
            <a:avLst/>
          </a:prstGeom>
          <a:noFill/>
          <a:ln/>
        </p:spPr>
        <p:txBody>
          <a:bodyPr wrap="square" lIns="0" tIns="0" rIns="0" bIns="0" rtlCol="0" anchor="ctr"/>
          <a:lstStyle/>
          <a:p>
            <a:pPr marL="0" indent="0" algn="ctr">
              <a:buNone/>
            </a:pPr>
            <a:r>
              <a:rPr lang="en-US" sz="980" dirty="0">
                <a:solidFill>
                  <a:srgbClr val="5F6070"/>
                </a:solidFill>
              </a:rPr>
              <a:t>Fatal accidents</a:t>
            </a:r>
            <a:endParaRPr lang="en-US" sz="980" dirty="0"/>
          </a:p>
        </p:txBody>
      </p:sp>
      <p:sp>
        <p:nvSpPr>
          <p:cNvPr id="11" name="Shape 8"/>
          <p:cNvSpPr/>
          <p:nvPr/>
        </p:nvSpPr>
        <p:spPr>
          <a:xfrm>
            <a:off x="822960" y="2496312"/>
            <a:ext cx="1417320" cy="0"/>
          </a:xfrm>
          <a:prstGeom prst="line">
            <a:avLst/>
          </a:prstGeom>
          <a:noFill/>
          <a:ln w="17780">
            <a:solidFill>
              <a:srgbClr val="B35B52"/>
            </a:solidFill>
            <a:prstDash val="solid"/>
          </a:ln>
        </p:spPr>
        <p:txBody>
          <a:bodyPr/>
          <a:lstStyle/>
          <a:p>
            <a:endParaRPr lang="en-US"/>
          </a:p>
        </p:txBody>
      </p:sp>
      <p:sp>
        <p:nvSpPr>
          <p:cNvPr id="12" name="Text 9"/>
          <p:cNvSpPr/>
          <p:nvPr/>
        </p:nvSpPr>
        <p:spPr>
          <a:xfrm>
            <a:off x="2606040" y="1691640"/>
            <a:ext cx="1874520" cy="320040"/>
          </a:xfrm>
          <a:prstGeom prst="rect">
            <a:avLst/>
          </a:prstGeom>
          <a:noFill/>
          <a:ln/>
        </p:spPr>
        <p:txBody>
          <a:bodyPr wrap="square" lIns="0" tIns="0" rIns="0" bIns="0" rtlCol="0" anchor="ctr"/>
          <a:lstStyle/>
          <a:p>
            <a:pPr marL="0" indent="0" algn="ctr">
              <a:buNone/>
            </a:pPr>
            <a:r>
              <a:rPr lang="en-US" sz="2200" b="1" dirty="0">
                <a:solidFill>
                  <a:srgbClr val="7160B8"/>
                </a:solidFill>
              </a:rPr>
              <a:t>22,073</a:t>
            </a:r>
            <a:endParaRPr lang="en-US" sz="2200" dirty="0"/>
          </a:p>
        </p:txBody>
      </p:sp>
      <p:sp>
        <p:nvSpPr>
          <p:cNvPr id="13" name="Text 10"/>
          <p:cNvSpPr/>
          <p:nvPr/>
        </p:nvSpPr>
        <p:spPr>
          <a:xfrm>
            <a:off x="2606040" y="2130552"/>
            <a:ext cx="1874520" cy="201168"/>
          </a:xfrm>
          <a:prstGeom prst="rect">
            <a:avLst/>
          </a:prstGeom>
          <a:noFill/>
          <a:ln/>
        </p:spPr>
        <p:txBody>
          <a:bodyPr wrap="square" lIns="0" tIns="0" rIns="0" bIns="0" rtlCol="0" anchor="ctr"/>
          <a:lstStyle/>
          <a:p>
            <a:pPr marL="0" indent="0" algn="ctr">
              <a:buNone/>
            </a:pPr>
            <a:r>
              <a:rPr lang="en-US" sz="980" dirty="0">
                <a:solidFill>
                  <a:srgbClr val="5F6070"/>
                </a:solidFill>
              </a:rPr>
              <a:t>Serious injury accidents</a:t>
            </a:r>
            <a:endParaRPr lang="en-US" sz="980" dirty="0"/>
          </a:p>
        </p:txBody>
      </p:sp>
      <p:sp>
        <p:nvSpPr>
          <p:cNvPr id="14" name="Shape 11"/>
          <p:cNvSpPr/>
          <p:nvPr/>
        </p:nvSpPr>
        <p:spPr>
          <a:xfrm>
            <a:off x="2743200" y="2496312"/>
            <a:ext cx="1600200" cy="0"/>
          </a:xfrm>
          <a:prstGeom prst="line">
            <a:avLst/>
          </a:prstGeom>
          <a:noFill/>
          <a:ln w="17780">
            <a:solidFill>
              <a:srgbClr val="7160B8"/>
            </a:solidFill>
            <a:prstDash val="solid"/>
          </a:ln>
        </p:spPr>
        <p:txBody>
          <a:bodyPr/>
          <a:lstStyle/>
          <a:p>
            <a:endParaRPr lang="en-US"/>
          </a:p>
        </p:txBody>
      </p:sp>
      <p:sp>
        <p:nvSpPr>
          <p:cNvPr id="15" name="Text 12"/>
          <p:cNvSpPr/>
          <p:nvPr/>
        </p:nvSpPr>
        <p:spPr>
          <a:xfrm>
            <a:off x="1143000" y="2834640"/>
            <a:ext cx="2697480" cy="320040"/>
          </a:xfrm>
          <a:prstGeom prst="rect">
            <a:avLst/>
          </a:prstGeom>
          <a:noFill/>
          <a:ln/>
        </p:spPr>
        <p:txBody>
          <a:bodyPr wrap="square" lIns="0" tIns="0" rIns="0" bIns="0" rtlCol="0" anchor="ctr"/>
          <a:lstStyle/>
          <a:p>
            <a:pPr marL="0" indent="0" algn="ctr">
              <a:buNone/>
            </a:pPr>
            <a:r>
              <a:rPr lang="en-US" sz="2200" b="1" dirty="0">
                <a:solidFill>
                  <a:srgbClr val="17264A"/>
                </a:solidFill>
              </a:rPr>
              <a:t>38.35%</a:t>
            </a:r>
            <a:endParaRPr lang="en-US" sz="2200" dirty="0"/>
          </a:p>
        </p:txBody>
      </p:sp>
      <p:sp>
        <p:nvSpPr>
          <p:cNvPr id="16" name="Text 13"/>
          <p:cNvSpPr/>
          <p:nvPr/>
        </p:nvSpPr>
        <p:spPr>
          <a:xfrm>
            <a:off x="1143000" y="3273552"/>
            <a:ext cx="2697480" cy="201168"/>
          </a:xfrm>
          <a:prstGeom prst="rect">
            <a:avLst/>
          </a:prstGeom>
          <a:noFill/>
          <a:ln/>
        </p:spPr>
        <p:txBody>
          <a:bodyPr wrap="square" lIns="0" tIns="0" rIns="0" bIns="0" rtlCol="0" anchor="ctr"/>
          <a:lstStyle/>
          <a:p>
            <a:pPr marL="0" indent="0" algn="ctr">
              <a:buNone/>
            </a:pPr>
            <a:r>
              <a:rPr lang="en-US" sz="980" dirty="0">
                <a:solidFill>
                  <a:srgbClr val="5F6070"/>
                </a:solidFill>
              </a:rPr>
              <a:t>Severe accident rate</a:t>
            </a:r>
            <a:endParaRPr lang="en-US" sz="980" dirty="0"/>
          </a:p>
        </p:txBody>
      </p:sp>
      <p:sp>
        <p:nvSpPr>
          <p:cNvPr id="17" name="Shape 14"/>
          <p:cNvSpPr/>
          <p:nvPr/>
        </p:nvSpPr>
        <p:spPr>
          <a:xfrm>
            <a:off x="1280160" y="3639312"/>
            <a:ext cx="2423160" cy="0"/>
          </a:xfrm>
          <a:prstGeom prst="line">
            <a:avLst/>
          </a:prstGeom>
          <a:noFill/>
          <a:ln w="17780">
            <a:solidFill>
              <a:srgbClr val="17264A"/>
            </a:solidFill>
            <a:prstDash val="solid"/>
          </a:ln>
        </p:spPr>
        <p:txBody>
          <a:bodyPr/>
          <a:lstStyle/>
          <a:p>
            <a:endParaRPr lang="en-US"/>
          </a:p>
        </p:txBody>
      </p:sp>
      <p:sp>
        <p:nvSpPr>
          <p:cNvPr id="18" name="Text 15"/>
          <p:cNvSpPr/>
          <p:nvPr/>
        </p:nvSpPr>
        <p:spPr>
          <a:xfrm>
            <a:off x="685800" y="4023360"/>
            <a:ext cx="3794760" cy="1371600"/>
          </a:xfrm>
          <a:prstGeom prst="rect">
            <a:avLst/>
          </a:prstGeom>
          <a:noFill/>
          <a:ln/>
        </p:spPr>
        <p:txBody>
          <a:bodyPr wrap="square" lIns="254" tIns="254" rIns="254" bIns="254" rtlCol="0" anchor="t">
            <a:normAutofit/>
          </a:bodyPr>
          <a:lstStyle/>
          <a:p>
            <a:pPr marL="152400" indent="-152400">
              <a:buSzPct val="100000"/>
              <a:buChar char="•"/>
            </a:pPr>
            <a:r>
              <a:rPr lang="en-US" sz="1220" dirty="0">
                <a:solidFill>
                  <a:srgbClr val="262637"/>
                </a:solidFill>
              </a:rPr>
              <a:t>Severity code 3 is the largest outcome group, but severity 1 and 2 are the key safety-risk priorities.</a:t>
            </a:r>
            <a:endParaRPr lang="en-US" sz="1220" dirty="0"/>
          </a:p>
          <a:p>
            <a:pPr marL="152400" indent="-152400">
              <a:buSzPct val="100000"/>
              <a:buChar char="•"/>
            </a:pPr>
            <a:r>
              <a:rPr lang="en-US" sz="1220" dirty="0">
                <a:solidFill>
                  <a:srgbClr val="262637"/>
                </a:solidFill>
              </a:rPr>
              <a:t>Speed zone 60 km/h has the highest accident count.</a:t>
            </a:r>
            <a:endParaRPr lang="en-US" sz="1220" dirty="0"/>
          </a:p>
          <a:p>
            <a:pPr marL="152400" indent="-152400">
              <a:buSzPct val="100000"/>
              <a:buChar char="•"/>
            </a:pPr>
            <a:r>
              <a:rPr lang="en-US" sz="1220" dirty="0">
                <a:solidFill>
                  <a:srgbClr val="262637"/>
                </a:solidFill>
              </a:rPr>
              <a:t>Most crashes occur in daylight conditions, likely due to higher daytime traffic exposure.</a:t>
            </a:r>
            <a:endParaRPr lang="en-US" sz="1220" dirty="0"/>
          </a:p>
          <a:p>
            <a:pPr marL="152400" indent="-152400">
              <a:buSzPct val="100000"/>
              <a:buChar char="•"/>
            </a:pPr>
            <a:r>
              <a:rPr lang="en-US" sz="1220" dirty="0">
                <a:solidFill>
                  <a:srgbClr val="262637"/>
                </a:solidFill>
              </a:rPr>
              <a:t>Not-at-intersection and intersection-related road geometries dominate the severity matrices.</a:t>
            </a:r>
            <a:endParaRPr lang="en-US" sz="122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Insight 4 — Accident Hotspot Mapping</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13</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pic>
        <p:nvPicPr>
          <p:cNvPr id="6" name="Image 0" descr="/mnt/data/hotspot_map_crop.png"/>
          <p:cNvPicPr>
            <a:picLocks noChangeAspect="1"/>
          </p:cNvPicPr>
          <p:nvPr/>
        </p:nvPicPr>
        <p:blipFill>
          <a:blip r:embed="rId3"/>
          <a:stretch>
            <a:fillRect/>
          </a:stretch>
        </p:blipFill>
        <p:spPr>
          <a:xfrm>
            <a:off x="594360" y="1731038"/>
            <a:ext cx="6903720" cy="4045148"/>
          </a:xfrm>
          <a:prstGeom prst="rect">
            <a:avLst/>
          </a:prstGeom>
        </p:spPr>
      </p:pic>
      <p:sp>
        <p:nvSpPr>
          <p:cNvPr id="8" name="Text 5"/>
          <p:cNvSpPr/>
          <p:nvPr/>
        </p:nvSpPr>
        <p:spPr>
          <a:xfrm>
            <a:off x="7818120" y="1143000"/>
            <a:ext cx="347472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How the map works</a:t>
            </a:r>
            <a:endParaRPr lang="en-US" sz="1700" dirty="0"/>
          </a:p>
        </p:txBody>
      </p:sp>
      <p:sp>
        <p:nvSpPr>
          <p:cNvPr id="9" name="Text 6"/>
          <p:cNvSpPr/>
          <p:nvPr/>
        </p:nvSpPr>
        <p:spPr>
          <a:xfrm>
            <a:off x="7818120" y="1600200"/>
            <a:ext cx="3657600" cy="1737360"/>
          </a:xfrm>
          <a:prstGeom prst="rect">
            <a:avLst/>
          </a:prstGeom>
          <a:noFill/>
          <a:ln/>
        </p:spPr>
        <p:txBody>
          <a:bodyPr wrap="square" lIns="254" tIns="254" rIns="254" bIns="254" rtlCol="0" anchor="t">
            <a:normAutofit/>
          </a:bodyPr>
          <a:lstStyle/>
          <a:p>
            <a:pPr marL="152400" indent="-152400">
              <a:buSzPct val="100000"/>
              <a:buChar char="•"/>
            </a:pPr>
            <a:r>
              <a:rPr lang="en-US" sz="1270" dirty="0">
                <a:solidFill>
                  <a:srgbClr val="262637"/>
                </a:solidFill>
              </a:rPr>
              <a:t>Crash locations are mapped using latitude and longitude from the merged location dataset.</a:t>
            </a:r>
            <a:endParaRPr lang="en-US" sz="1270" dirty="0"/>
          </a:p>
          <a:p>
            <a:pPr marL="152400" indent="-152400">
              <a:buSzPct val="100000"/>
              <a:buChar char="•"/>
            </a:pPr>
            <a:r>
              <a:rPr lang="en-US" sz="1270" dirty="0">
                <a:solidFill>
                  <a:srgbClr val="262637"/>
                </a:solidFill>
              </a:rPr>
              <a:t>NODE_ID identifies crash location; multiple crashes can occur at the same node.</a:t>
            </a:r>
            <a:endParaRPr lang="en-US" sz="1270" dirty="0"/>
          </a:p>
          <a:p>
            <a:pPr marL="152400" indent="-152400">
              <a:buSzPct val="100000"/>
              <a:buChar char="•"/>
            </a:pPr>
            <a:r>
              <a:rPr lang="en-US" sz="1270" dirty="0">
                <a:solidFill>
                  <a:srgbClr val="262637"/>
                </a:solidFill>
              </a:rPr>
              <a:t>Bubble size represents crash count; hotspot levels group nodes by crash frequency.</a:t>
            </a:r>
            <a:endParaRPr lang="en-US" sz="1270" dirty="0"/>
          </a:p>
          <a:p>
            <a:pPr marL="152400" indent="-152400">
              <a:buSzPct val="100000"/>
              <a:buChar char="•"/>
            </a:pPr>
            <a:r>
              <a:rPr lang="en-US" sz="1270" dirty="0">
                <a:solidFill>
                  <a:srgbClr val="262637"/>
                </a:solidFill>
              </a:rPr>
              <a:t>Map supports filtering by hotspot level and time period.</a:t>
            </a:r>
            <a:endParaRPr lang="en-US" sz="1270" dirty="0"/>
          </a:p>
        </p:txBody>
      </p:sp>
      <p:sp>
        <p:nvSpPr>
          <p:cNvPr id="10" name="Text 7"/>
          <p:cNvSpPr/>
          <p:nvPr/>
        </p:nvSpPr>
        <p:spPr>
          <a:xfrm>
            <a:off x="7818120" y="3840480"/>
            <a:ext cx="182880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Result</a:t>
            </a:r>
            <a:endParaRPr lang="en-US" sz="1500" dirty="0"/>
          </a:p>
        </p:txBody>
      </p:sp>
      <p:sp>
        <p:nvSpPr>
          <p:cNvPr id="11" name="Text 8"/>
          <p:cNvSpPr/>
          <p:nvPr/>
        </p:nvSpPr>
        <p:spPr>
          <a:xfrm>
            <a:off x="7818120" y="4160520"/>
            <a:ext cx="3657600" cy="658368"/>
          </a:xfrm>
          <a:prstGeom prst="rect">
            <a:avLst/>
          </a:prstGeom>
          <a:noFill/>
          <a:ln/>
        </p:spPr>
        <p:txBody>
          <a:bodyPr wrap="square" lIns="0" tIns="0" rIns="0" bIns="0" rtlCol="0" anchor="t">
            <a:normAutofit/>
          </a:bodyPr>
          <a:lstStyle/>
          <a:p>
            <a:pPr marL="0" indent="0" algn="l">
              <a:buNone/>
            </a:pPr>
            <a:r>
              <a:rPr lang="en-US" sz="1230" dirty="0">
                <a:solidFill>
                  <a:srgbClr val="5F6070"/>
                </a:solidFill>
              </a:rPr>
              <a:t>Hotspots concentrate around Victoria’s urban and road-network corridors, especially metropolitan Melbourne and key regional corridors.</a:t>
            </a:r>
            <a:endParaRPr lang="en-US" sz="1230" dirty="0"/>
          </a:p>
        </p:txBody>
      </p:sp>
      <p:sp>
        <p:nvSpPr>
          <p:cNvPr id="12" name="Text 9"/>
          <p:cNvSpPr/>
          <p:nvPr/>
        </p:nvSpPr>
        <p:spPr>
          <a:xfrm>
            <a:off x="7818120" y="5166360"/>
            <a:ext cx="182880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Use case</a:t>
            </a:r>
            <a:endParaRPr lang="en-US" sz="1500" dirty="0"/>
          </a:p>
        </p:txBody>
      </p:sp>
      <p:sp>
        <p:nvSpPr>
          <p:cNvPr id="13" name="Text 10"/>
          <p:cNvSpPr/>
          <p:nvPr/>
        </p:nvSpPr>
        <p:spPr>
          <a:xfrm>
            <a:off x="7818120" y="5486400"/>
            <a:ext cx="3657600" cy="658368"/>
          </a:xfrm>
          <a:prstGeom prst="rect">
            <a:avLst/>
          </a:prstGeom>
          <a:noFill/>
          <a:ln/>
        </p:spPr>
        <p:txBody>
          <a:bodyPr wrap="square" lIns="0" tIns="0" rIns="0" bIns="0" rtlCol="0" anchor="t">
            <a:normAutofit/>
          </a:bodyPr>
          <a:lstStyle/>
          <a:p>
            <a:pPr marL="0" indent="0" algn="l">
              <a:buNone/>
            </a:pPr>
            <a:r>
              <a:rPr lang="en-US" sz="1200" dirty="0">
                <a:solidFill>
                  <a:srgbClr val="5F6070"/>
                </a:solidFill>
              </a:rPr>
              <a:t>Combine hotspot frequency with severity rate to prioritize road safety audits, signage, lighting, lane design and intersection treatments.</a:t>
            </a:r>
            <a:endParaRPr lang="en-US" sz="1200" dirty="0"/>
          </a:p>
        </p:txBody>
      </p:sp>
      <p:sp>
        <p:nvSpPr>
          <p:cNvPr id="15" name="Shape 4">
            <a:extLst>
              <a:ext uri="{FF2B5EF4-FFF2-40B4-BE49-F238E27FC236}">
                <a16:creationId xmlns:a16="http://schemas.microsoft.com/office/drawing/2014/main" id="{485FC723-A2DB-34E9-A2EC-C87AE0A8BFD6}"/>
              </a:ext>
            </a:extLst>
          </p:cNvPr>
          <p:cNvSpPr/>
          <p:nvPr/>
        </p:nvSpPr>
        <p:spPr>
          <a:xfrm>
            <a:off x="594360" y="1202553"/>
            <a:ext cx="6903720" cy="5349240"/>
          </a:xfrm>
          <a:prstGeom prst="rect">
            <a:avLst/>
          </a:prstGeom>
          <a:solidFill>
            <a:srgbClr val="FFFFFF">
              <a:alpha val="0"/>
            </a:srgbClr>
          </a:solidFill>
          <a:ln w="12700">
            <a:solidFill>
              <a:srgbClr val="E1DCEB"/>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Statistical Relationship Check</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14</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pic>
        <p:nvPicPr>
          <p:cNvPr id="6" name="Image 0" descr="/mnt/data/image(95).png"/>
          <p:cNvPicPr>
            <a:picLocks noChangeAspect="1"/>
          </p:cNvPicPr>
          <p:nvPr/>
        </p:nvPicPr>
        <p:blipFill>
          <a:blip r:embed="rId3"/>
          <a:stretch>
            <a:fillRect/>
          </a:stretch>
        </p:blipFill>
        <p:spPr>
          <a:xfrm>
            <a:off x="731520" y="1519236"/>
            <a:ext cx="5257800" cy="3270888"/>
          </a:xfrm>
          <a:prstGeom prst="rect">
            <a:avLst/>
          </a:prstGeom>
        </p:spPr>
      </p:pic>
      <p:sp>
        <p:nvSpPr>
          <p:cNvPr id="7" name="Shape 4"/>
          <p:cNvSpPr/>
          <p:nvPr/>
        </p:nvSpPr>
        <p:spPr>
          <a:xfrm>
            <a:off x="731520" y="1234440"/>
            <a:ext cx="5257800" cy="3840480"/>
          </a:xfrm>
          <a:prstGeom prst="rect">
            <a:avLst/>
          </a:prstGeom>
          <a:solidFill>
            <a:srgbClr val="FFFFFF">
              <a:alpha val="0"/>
            </a:srgbClr>
          </a:solidFill>
          <a:ln w="12700">
            <a:solidFill>
              <a:srgbClr val="E1DCEB"/>
            </a:solidFill>
            <a:prstDash val="solid"/>
          </a:ln>
        </p:spPr>
        <p:txBody>
          <a:bodyPr/>
          <a:lstStyle/>
          <a:p>
            <a:endParaRPr lang="en-US"/>
          </a:p>
        </p:txBody>
      </p:sp>
      <p:sp>
        <p:nvSpPr>
          <p:cNvPr id="8" name="Text 5"/>
          <p:cNvSpPr/>
          <p:nvPr/>
        </p:nvSpPr>
        <p:spPr>
          <a:xfrm>
            <a:off x="6400800" y="1234440"/>
            <a:ext cx="320040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Correlation result</a:t>
            </a:r>
            <a:endParaRPr lang="en-US" sz="1700" dirty="0"/>
          </a:p>
        </p:txBody>
      </p:sp>
      <p:sp>
        <p:nvSpPr>
          <p:cNvPr id="9" name="Text 6"/>
          <p:cNvSpPr/>
          <p:nvPr/>
        </p:nvSpPr>
        <p:spPr>
          <a:xfrm>
            <a:off x="6400800" y="1691640"/>
            <a:ext cx="4800600" cy="1737360"/>
          </a:xfrm>
          <a:prstGeom prst="rect">
            <a:avLst/>
          </a:prstGeom>
          <a:noFill/>
          <a:ln/>
        </p:spPr>
        <p:txBody>
          <a:bodyPr wrap="square" lIns="254" tIns="254" rIns="254" bIns="254" rtlCol="0" anchor="t">
            <a:normAutofit/>
          </a:bodyPr>
          <a:lstStyle/>
          <a:p>
            <a:pPr marL="152400" indent="-152400">
              <a:buSzPct val="100000"/>
              <a:buChar char="•"/>
            </a:pPr>
            <a:r>
              <a:rPr lang="en-US" sz="1260" dirty="0">
                <a:solidFill>
                  <a:srgbClr val="262637"/>
                </a:solidFill>
              </a:rPr>
              <a:t>No selected numeric pair showed a strong correlation.</a:t>
            </a:r>
            <a:endParaRPr lang="en-US" sz="1260" dirty="0"/>
          </a:p>
          <a:p>
            <a:pPr marL="152400" indent="-152400">
              <a:buSzPct val="100000"/>
              <a:buChar char="•"/>
            </a:pPr>
            <a:r>
              <a:rPr lang="en-US" sz="1260" dirty="0">
                <a:solidFill>
                  <a:srgbClr val="262637"/>
                </a:solidFill>
              </a:rPr>
              <a:t>Largest off-diagonal values were still weak, such as latitude vs longitude around −0.23.</a:t>
            </a:r>
            <a:endParaRPr lang="en-US" sz="1260" dirty="0"/>
          </a:p>
          <a:p>
            <a:pPr marL="152400" indent="-152400">
              <a:buSzPct val="100000"/>
              <a:buChar char="•"/>
            </a:pPr>
            <a:r>
              <a:rPr lang="en-US" sz="1260" dirty="0">
                <a:solidFill>
                  <a:srgbClr val="262637"/>
                </a:solidFill>
              </a:rPr>
              <a:t>Speed zone vs severity was very weak, around −0.11.</a:t>
            </a:r>
            <a:endParaRPr lang="en-US" sz="1260" dirty="0"/>
          </a:p>
          <a:p>
            <a:pPr marL="152400" indent="-152400">
              <a:buSzPct val="100000"/>
              <a:buChar char="•"/>
            </a:pPr>
            <a:r>
              <a:rPr lang="en-US" sz="1260" dirty="0">
                <a:solidFill>
                  <a:srgbClr val="262637"/>
                </a:solidFill>
              </a:rPr>
              <a:t>This is expected because many fields are category codes rather than continuous measurements.</a:t>
            </a:r>
            <a:endParaRPr lang="en-US" sz="1260" dirty="0"/>
          </a:p>
        </p:txBody>
      </p:sp>
      <p:sp>
        <p:nvSpPr>
          <p:cNvPr id="10" name="Text 7"/>
          <p:cNvSpPr/>
          <p:nvPr/>
        </p:nvSpPr>
        <p:spPr>
          <a:xfrm>
            <a:off x="6400800" y="4114800"/>
            <a:ext cx="3200400" cy="274320"/>
          </a:xfrm>
          <a:prstGeom prst="rect">
            <a:avLst/>
          </a:prstGeom>
          <a:noFill/>
          <a:ln/>
        </p:spPr>
        <p:txBody>
          <a:bodyPr wrap="square" lIns="0" tIns="0" rIns="0" bIns="0" rtlCol="0" anchor="ctr">
            <a:normAutofit/>
          </a:bodyPr>
          <a:lstStyle/>
          <a:p>
            <a:pPr marL="0" indent="0">
              <a:buNone/>
            </a:pPr>
            <a:r>
              <a:rPr lang="en-US" sz="1500" b="1" dirty="0">
                <a:solidFill>
                  <a:srgbClr val="8EC8C5"/>
                </a:solidFill>
              </a:rPr>
              <a:t>Method decision</a:t>
            </a:r>
            <a:endParaRPr lang="en-US" sz="1500" dirty="0"/>
          </a:p>
        </p:txBody>
      </p:sp>
      <p:sp>
        <p:nvSpPr>
          <p:cNvPr id="11" name="Text 8"/>
          <p:cNvSpPr/>
          <p:nvPr/>
        </p:nvSpPr>
        <p:spPr>
          <a:xfrm>
            <a:off x="6400800" y="4480560"/>
            <a:ext cx="4800600" cy="868680"/>
          </a:xfrm>
          <a:prstGeom prst="rect">
            <a:avLst/>
          </a:prstGeom>
          <a:noFill/>
          <a:ln/>
        </p:spPr>
        <p:txBody>
          <a:bodyPr wrap="square" lIns="0" tIns="0" rIns="0" bIns="0" rtlCol="0" anchor="t">
            <a:normAutofit/>
          </a:bodyPr>
          <a:lstStyle/>
          <a:p>
            <a:pPr marL="0" indent="0" algn="l">
              <a:buNone/>
            </a:pPr>
            <a:r>
              <a:rPr lang="en-US" sz="1230" dirty="0">
                <a:solidFill>
                  <a:srgbClr val="5F6070"/>
                </a:solidFill>
              </a:rPr>
              <a:t>For categorical crash data, use “association” rather than “correlation.” Cross-tabulation, heatmaps, severe accident rate and Cramer’s V are more meaningful than Pearson correlation alone.</a:t>
            </a:r>
            <a:endParaRPr lang="en-US" sz="123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Recommendations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15</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594360" y="987552"/>
            <a:ext cx="10789920" cy="256032"/>
          </a:xfrm>
          <a:prstGeom prst="rect">
            <a:avLst/>
          </a:prstGeom>
          <a:noFill/>
          <a:ln/>
        </p:spPr>
        <p:txBody>
          <a:bodyPr wrap="square" lIns="0" tIns="0" rIns="0" bIns="0" rtlCol="0" anchor="t">
            <a:normAutofit/>
          </a:bodyPr>
          <a:lstStyle/>
          <a:p>
            <a:pPr marL="0" indent="0" algn="l">
              <a:buNone/>
            </a:pPr>
            <a:r>
              <a:rPr lang="en-US" sz="1400" dirty="0">
                <a:solidFill>
                  <a:srgbClr val="5F6070"/>
                </a:solidFill>
              </a:rPr>
              <a:t>Recommendations are based on timing, crash mechanism, road environment and hotspot location patterns.</a:t>
            </a:r>
            <a:endParaRPr lang="en-US" sz="1400" dirty="0"/>
          </a:p>
        </p:txBody>
      </p:sp>
      <p:sp>
        <p:nvSpPr>
          <p:cNvPr id="7" name="Text 5"/>
          <p:cNvSpPr/>
          <p:nvPr/>
        </p:nvSpPr>
        <p:spPr>
          <a:xfrm>
            <a:off x="731520" y="1508760"/>
            <a:ext cx="4754880" cy="228600"/>
          </a:xfrm>
          <a:prstGeom prst="rect">
            <a:avLst/>
          </a:prstGeom>
          <a:noFill/>
          <a:ln/>
        </p:spPr>
        <p:txBody>
          <a:bodyPr wrap="square" lIns="0" tIns="0" rIns="0" bIns="0" rtlCol="0" anchor="ctr">
            <a:normAutofit/>
          </a:bodyPr>
          <a:lstStyle/>
          <a:p>
            <a:pPr marL="0" indent="0">
              <a:buNone/>
            </a:pPr>
            <a:r>
              <a:rPr lang="en-US" sz="1400" b="1" dirty="0">
                <a:solidFill>
                  <a:srgbClr val="7160B8"/>
                </a:solidFill>
              </a:rPr>
              <a:t>Target peak-period risk</a:t>
            </a:r>
            <a:endParaRPr lang="en-US" sz="1400" dirty="0"/>
          </a:p>
        </p:txBody>
      </p:sp>
      <p:sp>
        <p:nvSpPr>
          <p:cNvPr id="8" name="Text 6"/>
          <p:cNvSpPr/>
          <p:nvPr/>
        </p:nvSpPr>
        <p:spPr>
          <a:xfrm>
            <a:off x="731520" y="1856232"/>
            <a:ext cx="4754880" cy="502920"/>
          </a:xfrm>
          <a:prstGeom prst="rect">
            <a:avLst/>
          </a:prstGeom>
          <a:noFill/>
          <a:ln/>
        </p:spPr>
        <p:txBody>
          <a:bodyPr wrap="square" lIns="0" tIns="0" rIns="0" bIns="0" rtlCol="0" anchor="t">
            <a:normAutofit/>
          </a:bodyPr>
          <a:lstStyle/>
          <a:p>
            <a:pPr marL="0" indent="0" algn="l">
              <a:buNone/>
            </a:pPr>
            <a:r>
              <a:rPr lang="en-US" sz="1170" dirty="0">
                <a:solidFill>
                  <a:srgbClr val="5F6070"/>
                </a:solidFill>
              </a:rPr>
              <a:t>Focus enforcement, public messaging and congestion management around afternoon peak and Friday travel patterns.</a:t>
            </a:r>
            <a:endParaRPr lang="en-US" sz="1170" dirty="0"/>
          </a:p>
        </p:txBody>
      </p:sp>
      <p:sp>
        <p:nvSpPr>
          <p:cNvPr id="9" name="Shape 7"/>
          <p:cNvSpPr/>
          <p:nvPr/>
        </p:nvSpPr>
        <p:spPr>
          <a:xfrm>
            <a:off x="731520" y="2468880"/>
            <a:ext cx="4389120" cy="0"/>
          </a:xfrm>
          <a:prstGeom prst="line">
            <a:avLst/>
          </a:prstGeom>
          <a:noFill/>
          <a:ln w="17780">
            <a:solidFill>
              <a:srgbClr val="7160B8"/>
            </a:solidFill>
            <a:prstDash val="solid"/>
          </a:ln>
        </p:spPr>
        <p:txBody>
          <a:bodyPr/>
          <a:lstStyle/>
          <a:p>
            <a:endParaRPr lang="en-US"/>
          </a:p>
        </p:txBody>
      </p:sp>
      <p:sp>
        <p:nvSpPr>
          <p:cNvPr id="10" name="Text 8"/>
          <p:cNvSpPr/>
          <p:nvPr/>
        </p:nvSpPr>
        <p:spPr>
          <a:xfrm>
            <a:off x="731520" y="2834640"/>
            <a:ext cx="4754880" cy="228600"/>
          </a:xfrm>
          <a:prstGeom prst="rect">
            <a:avLst/>
          </a:prstGeom>
          <a:noFill/>
          <a:ln/>
        </p:spPr>
        <p:txBody>
          <a:bodyPr wrap="square" lIns="0" tIns="0" rIns="0" bIns="0" rtlCol="0" anchor="ctr">
            <a:normAutofit/>
          </a:bodyPr>
          <a:lstStyle/>
          <a:p>
            <a:pPr marL="0" indent="0">
              <a:buNone/>
            </a:pPr>
            <a:r>
              <a:rPr lang="en-US" sz="1400" b="1" dirty="0">
                <a:solidFill>
                  <a:srgbClr val="8EC8C5"/>
                </a:solidFill>
              </a:rPr>
              <a:t>Reduce rear-end crashes</a:t>
            </a:r>
            <a:endParaRPr lang="en-US" sz="1400" dirty="0"/>
          </a:p>
        </p:txBody>
      </p:sp>
      <p:sp>
        <p:nvSpPr>
          <p:cNvPr id="11" name="Text 9"/>
          <p:cNvSpPr/>
          <p:nvPr/>
        </p:nvSpPr>
        <p:spPr>
          <a:xfrm>
            <a:off x="731520" y="3182112"/>
            <a:ext cx="4754880" cy="502920"/>
          </a:xfrm>
          <a:prstGeom prst="rect">
            <a:avLst/>
          </a:prstGeom>
          <a:noFill/>
          <a:ln/>
        </p:spPr>
        <p:txBody>
          <a:bodyPr wrap="square" lIns="0" tIns="0" rIns="0" bIns="0" rtlCol="0" anchor="t">
            <a:normAutofit/>
          </a:bodyPr>
          <a:lstStyle/>
          <a:p>
            <a:pPr marL="0" indent="0" algn="l">
              <a:buNone/>
            </a:pPr>
            <a:r>
              <a:rPr lang="en-US" sz="1170" dirty="0">
                <a:solidFill>
                  <a:srgbClr val="5F6070"/>
                </a:solidFill>
              </a:rPr>
              <a:t>Promote safe following distance and improve traffic-flow management at congested corridors and signalized approaches.</a:t>
            </a:r>
            <a:endParaRPr lang="en-US" sz="1170" dirty="0"/>
          </a:p>
        </p:txBody>
      </p:sp>
      <p:sp>
        <p:nvSpPr>
          <p:cNvPr id="12" name="Shape 10"/>
          <p:cNvSpPr/>
          <p:nvPr/>
        </p:nvSpPr>
        <p:spPr>
          <a:xfrm>
            <a:off x="731520" y="3794760"/>
            <a:ext cx="4389120" cy="0"/>
          </a:xfrm>
          <a:prstGeom prst="line">
            <a:avLst/>
          </a:prstGeom>
          <a:noFill/>
          <a:ln w="17780">
            <a:solidFill>
              <a:srgbClr val="8EC8C5"/>
            </a:solidFill>
            <a:prstDash val="solid"/>
          </a:ln>
        </p:spPr>
        <p:txBody>
          <a:bodyPr/>
          <a:lstStyle/>
          <a:p>
            <a:endParaRPr lang="en-US"/>
          </a:p>
        </p:txBody>
      </p:sp>
      <p:sp>
        <p:nvSpPr>
          <p:cNvPr id="13" name="Text 11"/>
          <p:cNvSpPr/>
          <p:nvPr/>
        </p:nvSpPr>
        <p:spPr>
          <a:xfrm>
            <a:off x="731520" y="4160520"/>
            <a:ext cx="4754880" cy="228600"/>
          </a:xfrm>
          <a:prstGeom prst="rect">
            <a:avLst/>
          </a:prstGeom>
          <a:noFill/>
          <a:ln/>
        </p:spPr>
        <p:txBody>
          <a:bodyPr wrap="square" lIns="0" tIns="0" rIns="0" bIns="0" rtlCol="0" anchor="ctr">
            <a:normAutofit/>
          </a:bodyPr>
          <a:lstStyle/>
          <a:p>
            <a:pPr marL="0" indent="0">
              <a:buNone/>
            </a:pPr>
            <a:r>
              <a:rPr lang="en-US" sz="1400" b="1" dirty="0">
                <a:solidFill>
                  <a:srgbClr val="D49A84"/>
                </a:solidFill>
              </a:rPr>
              <a:t>Prioritize high-count environments</a:t>
            </a:r>
            <a:endParaRPr lang="en-US" sz="1400" dirty="0"/>
          </a:p>
        </p:txBody>
      </p:sp>
      <p:sp>
        <p:nvSpPr>
          <p:cNvPr id="14" name="Text 12"/>
          <p:cNvSpPr/>
          <p:nvPr/>
        </p:nvSpPr>
        <p:spPr>
          <a:xfrm>
            <a:off x="731520" y="4507992"/>
            <a:ext cx="4754880" cy="502920"/>
          </a:xfrm>
          <a:prstGeom prst="rect">
            <a:avLst/>
          </a:prstGeom>
          <a:noFill/>
          <a:ln/>
        </p:spPr>
        <p:txBody>
          <a:bodyPr wrap="square" lIns="0" tIns="0" rIns="0" bIns="0" rtlCol="0" anchor="t">
            <a:normAutofit/>
          </a:bodyPr>
          <a:lstStyle/>
          <a:p>
            <a:pPr marL="0" indent="0" algn="l">
              <a:buNone/>
            </a:pPr>
            <a:r>
              <a:rPr lang="en-US" sz="1170" dirty="0">
                <a:solidFill>
                  <a:srgbClr val="5F6070"/>
                </a:solidFill>
              </a:rPr>
              <a:t>Investigate 60 km/h corridors, non-intersection segments, cross intersections and T intersections.</a:t>
            </a:r>
            <a:endParaRPr lang="en-US" sz="1170" dirty="0"/>
          </a:p>
        </p:txBody>
      </p:sp>
      <p:sp>
        <p:nvSpPr>
          <p:cNvPr id="15" name="Shape 13"/>
          <p:cNvSpPr/>
          <p:nvPr/>
        </p:nvSpPr>
        <p:spPr>
          <a:xfrm>
            <a:off x="731520" y="5120640"/>
            <a:ext cx="4389120" cy="0"/>
          </a:xfrm>
          <a:prstGeom prst="line">
            <a:avLst/>
          </a:prstGeom>
          <a:noFill/>
          <a:ln w="17780">
            <a:solidFill>
              <a:srgbClr val="D49A84"/>
            </a:solidFill>
            <a:prstDash val="solid"/>
          </a:ln>
        </p:spPr>
        <p:txBody>
          <a:bodyPr/>
          <a:lstStyle/>
          <a:p>
            <a:endParaRPr lang="en-US"/>
          </a:p>
        </p:txBody>
      </p:sp>
      <p:sp>
        <p:nvSpPr>
          <p:cNvPr id="16" name="Text 14"/>
          <p:cNvSpPr/>
          <p:nvPr/>
        </p:nvSpPr>
        <p:spPr>
          <a:xfrm>
            <a:off x="6400800" y="1508760"/>
            <a:ext cx="4754880" cy="228600"/>
          </a:xfrm>
          <a:prstGeom prst="rect">
            <a:avLst/>
          </a:prstGeom>
          <a:noFill/>
          <a:ln/>
        </p:spPr>
        <p:txBody>
          <a:bodyPr wrap="square" lIns="0" tIns="0" rIns="0" bIns="0" rtlCol="0" anchor="ctr">
            <a:normAutofit/>
          </a:bodyPr>
          <a:lstStyle/>
          <a:p>
            <a:pPr marL="0" indent="0">
              <a:buNone/>
            </a:pPr>
            <a:r>
              <a:rPr lang="en-US" sz="1400" b="1" dirty="0">
                <a:solidFill>
                  <a:srgbClr val="17264A"/>
                </a:solidFill>
              </a:rPr>
              <a:t>Use hotspot map for safety audits</a:t>
            </a:r>
            <a:endParaRPr lang="en-US" sz="1400" dirty="0"/>
          </a:p>
        </p:txBody>
      </p:sp>
      <p:sp>
        <p:nvSpPr>
          <p:cNvPr id="17" name="Text 15"/>
          <p:cNvSpPr/>
          <p:nvPr/>
        </p:nvSpPr>
        <p:spPr>
          <a:xfrm>
            <a:off x="6400800" y="1856232"/>
            <a:ext cx="4754880" cy="502920"/>
          </a:xfrm>
          <a:prstGeom prst="rect">
            <a:avLst/>
          </a:prstGeom>
          <a:noFill/>
          <a:ln/>
        </p:spPr>
        <p:txBody>
          <a:bodyPr wrap="square" lIns="0" tIns="0" rIns="0" bIns="0" rtlCol="0" anchor="t">
            <a:normAutofit/>
          </a:bodyPr>
          <a:lstStyle/>
          <a:p>
            <a:pPr marL="0" indent="0" algn="l">
              <a:buNone/>
            </a:pPr>
            <a:r>
              <a:rPr lang="en-US" sz="1170" dirty="0">
                <a:solidFill>
                  <a:srgbClr val="5F6070"/>
                </a:solidFill>
              </a:rPr>
              <a:t>Prioritize high-frequency nodes, then refine by severe accident rate to avoid relying only on total volume.</a:t>
            </a:r>
            <a:endParaRPr lang="en-US" sz="1170" dirty="0"/>
          </a:p>
        </p:txBody>
      </p:sp>
      <p:sp>
        <p:nvSpPr>
          <p:cNvPr id="18" name="Shape 16"/>
          <p:cNvSpPr/>
          <p:nvPr/>
        </p:nvSpPr>
        <p:spPr>
          <a:xfrm>
            <a:off x="6400800" y="2468880"/>
            <a:ext cx="4389120" cy="0"/>
          </a:xfrm>
          <a:prstGeom prst="line">
            <a:avLst/>
          </a:prstGeom>
          <a:noFill/>
          <a:ln w="17780">
            <a:solidFill>
              <a:srgbClr val="17264A"/>
            </a:solidFill>
            <a:prstDash val="solid"/>
          </a:ln>
        </p:spPr>
        <p:txBody>
          <a:bodyPr/>
          <a:lstStyle/>
          <a:p>
            <a:endParaRPr lang="en-US"/>
          </a:p>
        </p:txBody>
      </p:sp>
      <p:sp>
        <p:nvSpPr>
          <p:cNvPr id="19" name="Text 17"/>
          <p:cNvSpPr/>
          <p:nvPr/>
        </p:nvSpPr>
        <p:spPr>
          <a:xfrm>
            <a:off x="6400800" y="2834640"/>
            <a:ext cx="4754880" cy="228600"/>
          </a:xfrm>
          <a:prstGeom prst="rect">
            <a:avLst/>
          </a:prstGeom>
          <a:noFill/>
          <a:ln/>
        </p:spPr>
        <p:txBody>
          <a:bodyPr wrap="square" lIns="0" tIns="0" rIns="0" bIns="0" rtlCol="0" anchor="ctr">
            <a:normAutofit/>
          </a:bodyPr>
          <a:lstStyle/>
          <a:p>
            <a:pPr marL="0" indent="0">
              <a:buNone/>
            </a:pPr>
            <a:r>
              <a:rPr lang="en-US" sz="1400" b="1" dirty="0">
                <a:solidFill>
                  <a:srgbClr val="B35B52"/>
                </a:solidFill>
              </a:rPr>
              <a:t>Improve environmental treatments</a:t>
            </a:r>
            <a:endParaRPr lang="en-US" sz="1400" dirty="0"/>
          </a:p>
        </p:txBody>
      </p:sp>
      <p:sp>
        <p:nvSpPr>
          <p:cNvPr id="20" name="Text 18"/>
          <p:cNvSpPr/>
          <p:nvPr/>
        </p:nvSpPr>
        <p:spPr>
          <a:xfrm>
            <a:off x="6400800" y="3182112"/>
            <a:ext cx="4754880" cy="502920"/>
          </a:xfrm>
          <a:prstGeom prst="rect">
            <a:avLst/>
          </a:prstGeom>
          <a:noFill/>
          <a:ln/>
        </p:spPr>
        <p:txBody>
          <a:bodyPr wrap="square" lIns="0" tIns="0" rIns="0" bIns="0" rtlCol="0" anchor="t">
            <a:normAutofit/>
          </a:bodyPr>
          <a:lstStyle/>
          <a:p>
            <a:pPr marL="0" indent="0" algn="l">
              <a:buNone/>
            </a:pPr>
            <a:r>
              <a:rPr lang="en-US" sz="1170" dirty="0">
                <a:solidFill>
                  <a:srgbClr val="5F6070"/>
                </a:solidFill>
              </a:rPr>
              <a:t>Review lighting, signage, lane marking and visibility around dark or intersection-related severe crash patterns.</a:t>
            </a:r>
            <a:endParaRPr lang="en-US" sz="1170" dirty="0"/>
          </a:p>
        </p:txBody>
      </p:sp>
      <p:sp>
        <p:nvSpPr>
          <p:cNvPr id="21" name="Shape 19"/>
          <p:cNvSpPr/>
          <p:nvPr/>
        </p:nvSpPr>
        <p:spPr>
          <a:xfrm>
            <a:off x="6400800" y="3794760"/>
            <a:ext cx="4389120" cy="0"/>
          </a:xfrm>
          <a:prstGeom prst="line">
            <a:avLst/>
          </a:prstGeom>
          <a:noFill/>
          <a:ln w="17780">
            <a:solidFill>
              <a:srgbClr val="B35B52"/>
            </a:solidFill>
            <a:prstDash val="solid"/>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Summary &amp; Conclusion</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16</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685800" y="1143000"/>
            <a:ext cx="292608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Final takeaway</a:t>
            </a:r>
            <a:endParaRPr lang="en-US" sz="1700" dirty="0"/>
          </a:p>
        </p:txBody>
      </p:sp>
      <p:sp>
        <p:nvSpPr>
          <p:cNvPr id="7" name="Text 5"/>
          <p:cNvSpPr/>
          <p:nvPr/>
        </p:nvSpPr>
        <p:spPr>
          <a:xfrm>
            <a:off x="685800" y="1508760"/>
            <a:ext cx="10789920" cy="594360"/>
          </a:xfrm>
          <a:prstGeom prst="rect">
            <a:avLst/>
          </a:prstGeom>
          <a:noFill/>
          <a:ln/>
        </p:spPr>
        <p:txBody>
          <a:bodyPr wrap="square" lIns="0" tIns="0" rIns="0" bIns="0" rtlCol="0" anchor="t">
            <a:normAutofit lnSpcReduction="10000"/>
          </a:bodyPr>
          <a:lstStyle/>
          <a:p>
            <a:pPr marL="0" indent="0" algn="l">
              <a:buNone/>
            </a:pPr>
            <a:r>
              <a:rPr lang="en-US" sz="2000" dirty="0">
                <a:solidFill>
                  <a:srgbClr val="262637"/>
                </a:solidFill>
              </a:rPr>
              <a:t>The project transforms raw crash records into a practical road-safety dashboard that identifies crash timing, common causes, severity patterns and hotspot locations.</a:t>
            </a:r>
            <a:endParaRPr lang="en-US" sz="2000" dirty="0"/>
          </a:p>
        </p:txBody>
      </p:sp>
      <p:sp>
        <p:nvSpPr>
          <p:cNvPr id="8" name="Text 6"/>
          <p:cNvSpPr/>
          <p:nvPr/>
        </p:nvSpPr>
        <p:spPr>
          <a:xfrm>
            <a:off x="594360" y="2743200"/>
            <a:ext cx="530352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What was achieved</a:t>
            </a:r>
            <a:endParaRPr lang="en-US" sz="1700" dirty="0"/>
          </a:p>
        </p:txBody>
      </p:sp>
      <p:sp>
        <p:nvSpPr>
          <p:cNvPr id="9" name="Text 7"/>
          <p:cNvSpPr/>
          <p:nvPr/>
        </p:nvSpPr>
        <p:spPr>
          <a:xfrm>
            <a:off x="594360" y="3200400"/>
            <a:ext cx="5303520" cy="2560320"/>
          </a:xfrm>
          <a:prstGeom prst="rect">
            <a:avLst/>
          </a:prstGeom>
          <a:noFill/>
          <a:ln/>
        </p:spPr>
        <p:txBody>
          <a:bodyPr wrap="square" lIns="254" tIns="254" rIns="254" bIns="254" rtlCol="0" anchor="t">
            <a:normAutofit/>
          </a:bodyPr>
          <a:lstStyle/>
          <a:p>
            <a:pPr marL="152400" indent="-152400">
              <a:buSzPct val="100000"/>
              <a:buChar char="•"/>
            </a:pPr>
            <a:r>
              <a:rPr lang="en-US" sz="1230" dirty="0">
                <a:solidFill>
                  <a:srgbClr val="262637"/>
                </a:solidFill>
              </a:rPr>
              <a:t>Cleaned and validated a 2019–2023 crash dataset.</a:t>
            </a:r>
            <a:endParaRPr lang="en-US" sz="1230" dirty="0"/>
          </a:p>
          <a:p>
            <a:pPr marL="152400" indent="-152400">
              <a:buSzPct val="100000"/>
              <a:buChar char="•"/>
            </a:pPr>
            <a:r>
              <a:rPr lang="en-US" sz="1230" dirty="0">
                <a:solidFill>
                  <a:srgbClr val="262637"/>
                </a:solidFill>
              </a:rPr>
              <a:t>Merged location data and created dashboard-ready fields.</a:t>
            </a:r>
            <a:endParaRPr lang="en-US" sz="1230" dirty="0"/>
          </a:p>
          <a:p>
            <a:pPr marL="152400" indent="-152400">
              <a:buSzPct val="100000"/>
              <a:buChar char="•"/>
            </a:pPr>
            <a:r>
              <a:rPr lang="en-US" sz="1230" dirty="0">
                <a:solidFill>
                  <a:srgbClr val="262637"/>
                </a:solidFill>
              </a:rPr>
              <a:t>Built a 4-page Power BI report for time, cause, severity and hotspot analysis.</a:t>
            </a:r>
            <a:endParaRPr lang="en-US" sz="1230" dirty="0"/>
          </a:p>
        </p:txBody>
      </p:sp>
      <p:sp>
        <p:nvSpPr>
          <p:cNvPr id="10" name="Text 8"/>
          <p:cNvSpPr/>
          <p:nvPr/>
        </p:nvSpPr>
        <p:spPr>
          <a:xfrm>
            <a:off x="6309360" y="2743200"/>
            <a:ext cx="530352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What it enables</a:t>
            </a:r>
            <a:endParaRPr lang="en-US" sz="1700" dirty="0"/>
          </a:p>
        </p:txBody>
      </p:sp>
      <p:sp>
        <p:nvSpPr>
          <p:cNvPr id="11" name="Text 9"/>
          <p:cNvSpPr/>
          <p:nvPr/>
        </p:nvSpPr>
        <p:spPr>
          <a:xfrm>
            <a:off x="6309360" y="3200400"/>
            <a:ext cx="5303520" cy="2560320"/>
          </a:xfrm>
          <a:prstGeom prst="rect">
            <a:avLst/>
          </a:prstGeom>
          <a:noFill/>
          <a:ln/>
        </p:spPr>
        <p:txBody>
          <a:bodyPr wrap="square" lIns="254" tIns="254" rIns="254" bIns="254" rtlCol="0" anchor="t">
            <a:normAutofit/>
          </a:bodyPr>
          <a:lstStyle/>
          <a:p>
            <a:pPr marL="152400" indent="-152400">
              <a:buSzPct val="100000"/>
              <a:buChar char="•"/>
            </a:pPr>
            <a:r>
              <a:rPr lang="en-US" sz="1230" dirty="0">
                <a:solidFill>
                  <a:srgbClr val="262637"/>
                </a:solidFill>
              </a:rPr>
              <a:t>Faster exploration of crash patterns.</a:t>
            </a:r>
            <a:endParaRPr lang="en-US" sz="1230" dirty="0"/>
          </a:p>
          <a:p>
            <a:pPr marL="152400" indent="-152400">
              <a:buSzPct val="100000"/>
              <a:buChar char="•"/>
            </a:pPr>
            <a:r>
              <a:rPr lang="en-US" sz="1230" dirty="0">
                <a:solidFill>
                  <a:srgbClr val="262637"/>
                </a:solidFill>
              </a:rPr>
              <a:t>Location-based prioritization through hotspot mapping.</a:t>
            </a:r>
            <a:endParaRPr lang="en-US" sz="1230" dirty="0"/>
          </a:p>
          <a:p>
            <a:pPr marL="152400" indent="-152400">
              <a:buSzPct val="100000"/>
              <a:buChar char="•"/>
            </a:pPr>
            <a:r>
              <a:rPr lang="en-US" sz="1230" dirty="0">
                <a:solidFill>
                  <a:srgbClr val="262637"/>
                </a:solidFill>
              </a:rPr>
              <a:t>More focused recommendations for enforcement, infrastructure, lighting, signage and safety audits.</a:t>
            </a:r>
            <a:endParaRPr lang="en-US" sz="123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E813-1A80-183A-B6E0-2F9516A518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6A06038-E2A3-24D7-13D4-8E59EE31E230}"/>
              </a:ext>
            </a:extLst>
          </p:cNvPr>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a:extLst>
              <a:ext uri="{FF2B5EF4-FFF2-40B4-BE49-F238E27FC236}">
                <a16:creationId xmlns:a16="http://schemas.microsoft.com/office/drawing/2014/main" id="{2F616D44-92C0-336E-5EA3-A3D5628BE481}"/>
              </a:ext>
            </a:extLst>
          </p:cNvPr>
          <p:cNvSpPr/>
          <p:nvPr/>
        </p:nvSpPr>
        <p:spPr>
          <a:xfrm>
            <a:off x="502920" y="201168"/>
            <a:ext cx="7498080" cy="320040"/>
          </a:xfrm>
          <a:prstGeom prst="rect">
            <a:avLst/>
          </a:prstGeom>
          <a:noFill/>
          <a:ln/>
        </p:spPr>
        <p:txBody>
          <a:bodyPr wrap="square" lIns="0" tIns="0" rIns="0" bIns="0" rtlCol="0" anchor="ctr"/>
          <a:lstStyle/>
          <a:p>
            <a:r>
              <a:rPr lang="en-US" sz="2300" b="1" dirty="0">
                <a:solidFill>
                  <a:srgbClr val="FFFFFF"/>
                </a:solidFill>
              </a:rPr>
              <a:t>Improvement (</a:t>
            </a:r>
            <a:r>
              <a:rPr lang="en-US" sz="2300" b="1" dirty="0" err="1">
                <a:solidFill>
                  <a:srgbClr val="FFFFFF"/>
                </a:solidFill>
              </a:rPr>
              <a:t>Revisi</a:t>
            </a:r>
            <a:r>
              <a:rPr lang="en-US" sz="2300" b="1" dirty="0">
                <a:solidFill>
                  <a:srgbClr val="FFFFFF"/>
                </a:solidFill>
              </a:rPr>
              <a:t>)</a:t>
            </a:r>
            <a:endParaRPr lang="en-US" sz="2300" dirty="0"/>
          </a:p>
        </p:txBody>
      </p:sp>
      <p:sp>
        <p:nvSpPr>
          <p:cNvPr id="4" name="Text 2">
            <a:extLst>
              <a:ext uri="{FF2B5EF4-FFF2-40B4-BE49-F238E27FC236}">
                <a16:creationId xmlns:a16="http://schemas.microsoft.com/office/drawing/2014/main" id="{852420F5-5CED-DD23-A44E-33361F7A7AEB}"/>
              </a:ext>
            </a:extLst>
          </p:cNvPr>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17</a:t>
            </a:r>
            <a:endParaRPr lang="en-US" sz="900" dirty="0"/>
          </a:p>
        </p:txBody>
      </p:sp>
      <p:sp>
        <p:nvSpPr>
          <p:cNvPr id="5" name="Shape 3">
            <a:extLst>
              <a:ext uri="{FF2B5EF4-FFF2-40B4-BE49-F238E27FC236}">
                <a16:creationId xmlns:a16="http://schemas.microsoft.com/office/drawing/2014/main" id="{8B695F24-8C13-165C-36CD-7FE9B64022DA}"/>
              </a:ext>
            </a:extLst>
          </p:cNvPr>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8" name="Text 5">
            <a:extLst>
              <a:ext uri="{FF2B5EF4-FFF2-40B4-BE49-F238E27FC236}">
                <a16:creationId xmlns:a16="http://schemas.microsoft.com/office/drawing/2014/main" id="{4377B291-7247-5C0E-B326-A1719F26F21E}"/>
              </a:ext>
            </a:extLst>
          </p:cNvPr>
          <p:cNvSpPr/>
          <p:nvPr/>
        </p:nvSpPr>
        <p:spPr>
          <a:xfrm>
            <a:off x="7818120" y="1042943"/>
            <a:ext cx="3474720" cy="274320"/>
          </a:xfrm>
          <a:prstGeom prst="rect">
            <a:avLst/>
          </a:prstGeom>
          <a:noFill/>
          <a:ln/>
        </p:spPr>
        <p:txBody>
          <a:bodyPr wrap="square" lIns="0" tIns="0" rIns="0" bIns="0" rtlCol="0" anchor="ctr">
            <a:normAutofit/>
          </a:bodyPr>
          <a:lstStyle/>
          <a:p>
            <a:pPr marL="0" indent="0">
              <a:buNone/>
            </a:pPr>
            <a:r>
              <a:rPr lang="en-US" sz="1700" b="1" dirty="0">
                <a:solidFill>
                  <a:srgbClr val="7160B8"/>
                </a:solidFill>
              </a:rPr>
              <a:t>Why it happens?</a:t>
            </a:r>
            <a:endParaRPr lang="en-US" sz="1700" dirty="0"/>
          </a:p>
        </p:txBody>
      </p:sp>
      <p:sp>
        <p:nvSpPr>
          <p:cNvPr id="9" name="Text 6">
            <a:extLst>
              <a:ext uri="{FF2B5EF4-FFF2-40B4-BE49-F238E27FC236}">
                <a16:creationId xmlns:a16="http://schemas.microsoft.com/office/drawing/2014/main" id="{B0D2EFDC-DF13-77DA-3F62-B4430EB92D64}"/>
              </a:ext>
            </a:extLst>
          </p:cNvPr>
          <p:cNvSpPr/>
          <p:nvPr/>
        </p:nvSpPr>
        <p:spPr>
          <a:xfrm>
            <a:off x="7818119" y="1412631"/>
            <a:ext cx="4028049" cy="4969881"/>
          </a:xfrm>
          <a:prstGeom prst="rect">
            <a:avLst/>
          </a:prstGeom>
          <a:noFill/>
          <a:ln/>
        </p:spPr>
        <p:txBody>
          <a:bodyPr wrap="square" lIns="254" tIns="254" rIns="254" bIns="254" rtlCol="0" anchor="t">
            <a:noAutofit/>
          </a:bodyPr>
          <a:lstStyle/>
          <a:p>
            <a:pPr algn="just"/>
            <a:r>
              <a:rPr lang="en-US" sz="1200" dirty="0"/>
              <a:t>The risk factor analysis shows that most crashes occurred in the 60 km/h speed zone and under daylight conditions. </a:t>
            </a:r>
          </a:p>
          <a:p>
            <a:pPr algn="just"/>
            <a:r>
              <a:rPr lang="en-US" sz="1200" dirty="0"/>
              <a:t>When </a:t>
            </a:r>
            <a:r>
              <a:rPr lang="en-US" sz="1200" dirty="0" err="1"/>
              <a:t>analysed</a:t>
            </a:r>
            <a:r>
              <a:rPr lang="en-US" sz="1200" dirty="0"/>
              <a:t> by time period, most crashes in this speed zone happened during the Afternoon Peak with 6,830 crashes, followed by Midday with 6,326 crashes and Morning Peak with 4,161 crashes. This suggests that the high number of crashes in 60 km/h zones is likely related to high traffic activity during busy travel periods, especially commuting hours and daytime road use.</a:t>
            </a:r>
          </a:p>
          <a:p>
            <a:pPr algn="just"/>
            <a:r>
              <a:rPr lang="en-US" sz="1200" dirty="0"/>
              <a:t>The most common accident types in the 60 km/h speed zone were rear-end crashes, right-through crashes, and cross-traffic crashes. These accident types are often connected to urban and arterial road conditions, where vehicles frequently stop, turn, merge, and interact at intersections. Therefore, the high accident count in 60 km/h zones may not be caused by speed alone, but also by traffic density, road complexity, and frequent vehicle movement.</a:t>
            </a:r>
          </a:p>
          <a:p>
            <a:pPr algn="just"/>
            <a:r>
              <a:rPr lang="en-US" sz="1200" dirty="0"/>
              <a:t>Light condition 1, which represents daylight, also recorded the highest number of crashes, with 40,914 accidents. Most daylight crashes occurred during Midday with 17,307 crashes, followed by Afternoon Peak with 13,984 crashes and Morning Peak with 8,873 crashes. This shows that daylight crashes are likely higher because most road activity happens during the day, when more vehicles, pedestrians, and other road users are active. Therefore, daylight should not be seen as a dangerous condition by itself. Instead, the high crash count is more likely caused by higher road exposure and heavier traffic during daylight hours.</a:t>
            </a:r>
          </a:p>
        </p:txBody>
      </p:sp>
      <p:sp>
        <p:nvSpPr>
          <p:cNvPr id="17" name="Shape 4">
            <a:extLst>
              <a:ext uri="{FF2B5EF4-FFF2-40B4-BE49-F238E27FC236}">
                <a16:creationId xmlns:a16="http://schemas.microsoft.com/office/drawing/2014/main" id="{ABB1C97D-6683-B2C7-6D15-A7123A60EB90}"/>
              </a:ext>
            </a:extLst>
          </p:cNvPr>
          <p:cNvSpPr/>
          <p:nvPr/>
        </p:nvSpPr>
        <p:spPr>
          <a:xfrm>
            <a:off x="276664" y="1033272"/>
            <a:ext cx="7272998" cy="5349240"/>
          </a:xfrm>
          <a:prstGeom prst="rect">
            <a:avLst/>
          </a:prstGeom>
          <a:solidFill>
            <a:srgbClr val="FFFFFF">
              <a:alpha val="0"/>
            </a:srgbClr>
          </a:solidFill>
          <a:ln w="12700">
            <a:solidFill>
              <a:srgbClr val="E1DCEB"/>
            </a:solidFill>
            <a:prstDash val="solid"/>
          </a:ln>
        </p:spPr>
        <p:txBody>
          <a:bodyPr/>
          <a:lstStyle/>
          <a:p>
            <a:endParaRPr lang="en-US"/>
          </a:p>
        </p:txBody>
      </p:sp>
      <p:pic>
        <p:nvPicPr>
          <p:cNvPr id="15" name="Picture 14">
            <a:extLst>
              <a:ext uri="{FF2B5EF4-FFF2-40B4-BE49-F238E27FC236}">
                <a16:creationId xmlns:a16="http://schemas.microsoft.com/office/drawing/2014/main" id="{879F60A2-176B-039F-4EFE-FA27EE7EE0C9}"/>
              </a:ext>
            </a:extLst>
          </p:cNvPr>
          <p:cNvPicPr>
            <a:picLocks noChangeAspect="1"/>
          </p:cNvPicPr>
          <p:nvPr/>
        </p:nvPicPr>
        <p:blipFill>
          <a:blip r:embed="rId3"/>
          <a:stretch>
            <a:fillRect/>
          </a:stretch>
        </p:blipFill>
        <p:spPr>
          <a:xfrm>
            <a:off x="276664" y="1473239"/>
            <a:ext cx="7272998" cy="4469306"/>
          </a:xfrm>
          <a:prstGeom prst="rect">
            <a:avLst/>
          </a:prstGeom>
        </p:spPr>
      </p:pic>
    </p:spTree>
    <p:extLst>
      <p:ext uri="{BB962C8B-B14F-4D97-AF65-F5344CB8AC3E}">
        <p14:creationId xmlns:p14="http://schemas.microsoft.com/office/powerpoint/2010/main" val="302105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7264A"/>
          </a:solidFill>
          <a:ln w="12700">
            <a:solidFill>
              <a:srgbClr val="17264A"/>
            </a:solidFill>
            <a:prstDash val="solid"/>
          </a:ln>
        </p:spPr>
        <p:txBody>
          <a:bodyPr/>
          <a:lstStyle/>
          <a:p>
            <a:endParaRPr lang="en-US"/>
          </a:p>
        </p:txBody>
      </p:sp>
      <p:sp>
        <p:nvSpPr>
          <p:cNvPr id="3" name="Text 1"/>
          <p:cNvSpPr/>
          <p:nvPr/>
        </p:nvSpPr>
        <p:spPr>
          <a:xfrm>
            <a:off x="502920" y="201168"/>
            <a:ext cx="7498080" cy="320040"/>
          </a:xfrm>
          <a:prstGeom prst="rect">
            <a:avLst/>
          </a:prstGeom>
          <a:noFill/>
          <a:ln/>
        </p:spPr>
        <p:txBody>
          <a:bodyPr wrap="square" lIns="0" tIns="0" rIns="0" bIns="0" rtlCol="0" anchor="ctr"/>
          <a:lstStyle/>
          <a:p>
            <a:pPr marL="0" indent="0">
              <a:buNone/>
            </a:pPr>
            <a:r>
              <a:rPr lang="en-US" sz="2300" b="1" dirty="0">
                <a:solidFill>
                  <a:srgbClr val="FFFFFF"/>
                </a:solidFill>
              </a:rPr>
              <a:t>Sources &amp; References</a:t>
            </a:r>
            <a:endParaRPr lang="en-US" sz="2300" dirty="0"/>
          </a:p>
        </p:txBody>
      </p:sp>
      <p:sp>
        <p:nvSpPr>
          <p:cNvPr id="4" name="Text 2"/>
          <p:cNvSpPr/>
          <p:nvPr/>
        </p:nvSpPr>
        <p:spPr>
          <a:xfrm>
            <a:off x="11292840" y="256032"/>
            <a:ext cx="411480" cy="164592"/>
          </a:xfrm>
          <a:prstGeom prst="rect">
            <a:avLst/>
          </a:prstGeom>
          <a:noFill/>
          <a:ln/>
        </p:spPr>
        <p:txBody>
          <a:bodyPr wrap="square" lIns="0" tIns="0" rIns="0" bIns="0" rtlCol="0" anchor="ctr"/>
          <a:lstStyle/>
          <a:p>
            <a:pPr marL="0" indent="0" algn="r">
              <a:buNone/>
            </a:pPr>
            <a:r>
              <a:rPr lang="en-US" sz="900" b="1" dirty="0">
                <a:solidFill>
                  <a:srgbClr val="DDE2FF"/>
                </a:solidFill>
              </a:rPr>
              <a:t>18</a:t>
            </a:r>
            <a:endParaRPr lang="en-US" sz="900" dirty="0"/>
          </a:p>
        </p:txBody>
      </p:sp>
      <p:sp>
        <p:nvSpPr>
          <p:cNvPr id="5" name="Shape 3"/>
          <p:cNvSpPr/>
          <p:nvPr/>
        </p:nvSpPr>
        <p:spPr>
          <a:xfrm>
            <a:off x="0" y="777240"/>
            <a:ext cx="12191695" cy="36576"/>
          </a:xfrm>
          <a:prstGeom prst="rect">
            <a:avLst/>
          </a:prstGeom>
          <a:solidFill>
            <a:srgbClr val="7160B8"/>
          </a:solidFill>
          <a:ln w="12700">
            <a:solidFill>
              <a:srgbClr val="7160B8"/>
            </a:solidFill>
            <a:prstDash val="solid"/>
          </a:ln>
        </p:spPr>
        <p:txBody>
          <a:bodyPr/>
          <a:lstStyle/>
          <a:p>
            <a:endParaRPr lang="en-US"/>
          </a:p>
        </p:txBody>
      </p:sp>
      <p:sp>
        <p:nvSpPr>
          <p:cNvPr id="6" name="Text 4"/>
          <p:cNvSpPr/>
          <p:nvPr/>
        </p:nvSpPr>
        <p:spPr>
          <a:xfrm>
            <a:off x="685800" y="1051560"/>
            <a:ext cx="10789920" cy="274320"/>
          </a:xfrm>
          <a:prstGeom prst="rect">
            <a:avLst/>
          </a:prstGeom>
          <a:noFill/>
          <a:ln/>
        </p:spPr>
        <p:txBody>
          <a:bodyPr wrap="square" lIns="0" tIns="0" rIns="0" bIns="0" rtlCol="0" anchor="t">
            <a:normAutofit/>
          </a:bodyPr>
          <a:lstStyle/>
          <a:p>
            <a:pPr marL="0" indent="0" algn="l">
              <a:buNone/>
            </a:pPr>
            <a:r>
              <a:rPr lang="en-US" sz="1400" dirty="0">
                <a:solidFill>
                  <a:srgbClr val="5F6070"/>
                </a:solidFill>
              </a:rPr>
              <a:t>References used for dataset definitions, road-safety context and project evidence.</a:t>
            </a:r>
            <a:endParaRPr lang="en-US" sz="1400" dirty="0"/>
          </a:p>
        </p:txBody>
      </p:sp>
      <p:sp>
        <p:nvSpPr>
          <p:cNvPr id="7" name="Text 5"/>
          <p:cNvSpPr/>
          <p:nvPr/>
        </p:nvSpPr>
        <p:spPr>
          <a:xfrm>
            <a:off x="777240" y="1703070"/>
            <a:ext cx="5120640" cy="201168"/>
          </a:xfrm>
          <a:prstGeom prst="rect">
            <a:avLst/>
          </a:prstGeom>
          <a:noFill/>
          <a:ln/>
        </p:spPr>
        <p:txBody>
          <a:bodyPr wrap="square" lIns="0" tIns="0" rIns="0" bIns="0" rtlCol="0" anchor="ctr"/>
          <a:lstStyle/>
          <a:p>
            <a:pPr marL="0" indent="0">
              <a:buNone/>
            </a:pPr>
            <a:r>
              <a:rPr lang="en-US" sz="1150" b="1" dirty="0">
                <a:solidFill>
                  <a:srgbClr val="262637"/>
                </a:solidFill>
              </a:rPr>
              <a:t>1. Transport Victoria Open Data — Victoria road crash data</a:t>
            </a:r>
            <a:endParaRPr lang="en-US" sz="1150" dirty="0"/>
          </a:p>
        </p:txBody>
      </p:sp>
      <p:sp>
        <p:nvSpPr>
          <p:cNvPr id="8" name="Text 6"/>
          <p:cNvSpPr/>
          <p:nvPr/>
        </p:nvSpPr>
        <p:spPr>
          <a:xfrm>
            <a:off x="6080760" y="1703070"/>
            <a:ext cx="5394960" cy="201168"/>
          </a:xfrm>
          <a:prstGeom prst="rect">
            <a:avLst/>
          </a:prstGeom>
          <a:noFill/>
          <a:ln/>
        </p:spPr>
        <p:txBody>
          <a:bodyPr wrap="square" lIns="0" tIns="0" rIns="0" bIns="0" rtlCol="0" anchor="t">
            <a:normAutofit/>
          </a:bodyPr>
          <a:lstStyle/>
          <a:p>
            <a:pPr marL="0" indent="0" algn="l">
              <a:buNone/>
            </a:pPr>
            <a:r>
              <a:rPr lang="en-US" sz="950" dirty="0">
                <a:solidFill>
                  <a:srgbClr val="5F6070"/>
                </a:solidFill>
              </a:rPr>
              <a:t>https://opendata.transport.vic.gov.au/dataset/victoria-road-crash-data</a:t>
            </a:r>
            <a:endParaRPr lang="en-US" sz="950" dirty="0"/>
          </a:p>
        </p:txBody>
      </p:sp>
      <p:sp>
        <p:nvSpPr>
          <p:cNvPr id="9" name="Text 7"/>
          <p:cNvSpPr/>
          <p:nvPr/>
        </p:nvSpPr>
        <p:spPr>
          <a:xfrm>
            <a:off x="777240" y="2361438"/>
            <a:ext cx="5120640" cy="201168"/>
          </a:xfrm>
          <a:prstGeom prst="rect">
            <a:avLst/>
          </a:prstGeom>
          <a:noFill/>
          <a:ln/>
        </p:spPr>
        <p:txBody>
          <a:bodyPr wrap="square" lIns="0" tIns="0" rIns="0" bIns="0" rtlCol="0" anchor="ctr"/>
          <a:lstStyle/>
          <a:p>
            <a:pPr marL="0" indent="0">
              <a:buNone/>
            </a:pPr>
            <a:r>
              <a:rPr lang="en-US" sz="1150" b="1" dirty="0">
                <a:solidFill>
                  <a:srgbClr val="262637"/>
                </a:solidFill>
              </a:rPr>
              <a:t>2. Transport Victoria Open Data — Victorian Road Crash Data: Data Dictionary</a:t>
            </a:r>
            <a:endParaRPr lang="en-US" sz="1150" dirty="0"/>
          </a:p>
        </p:txBody>
      </p:sp>
      <p:sp>
        <p:nvSpPr>
          <p:cNvPr id="10" name="Text 8"/>
          <p:cNvSpPr/>
          <p:nvPr/>
        </p:nvSpPr>
        <p:spPr>
          <a:xfrm>
            <a:off x="6080760" y="2361438"/>
            <a:ext cx="5394960" cy="201168"/>
          </a:xfrm>
          <a:prstGeom prst="rect">
            <a:avLst/>
          </a:prstGeom>
          <a:noFill/>
          <a:ln/>
        </p:spPr>
        <p:txBody>
          <a:bodyPr wrap="square" lIns="0" tIns="0" rIns="0" bIns="0" rtlCol="0" anchor="t">
            <a:normAutofit fontScale="85000" lnSpcReduction="10000"/>
          </a:bodyPr>
          <a:lstStyle/>
          <a:p>
            <a:pPr marL="0" indent="0" algn="l">
              <a:buNone/>
            </a:pPr>
            <a:r>
              <a:rPr lang="en-US" sz="950" dirty="0">
                <a:solidFill>
                  <a:srgbClr val="5F6070"/>
                </a:solidFill>
              </a:rPr>
              <a:t>https://opendata.transport.vic.gov.au/dataset/victoria-road-crash-data/resource/5df1f373-0c90-48f5-80e1-7b2a35507134</a:t>
            </a:r>
            <a:endParaRPr lang="en-US" sz="950" dirty="0"/>
          </a:p>
        </p:txBody>
      </p:sp>
      <p:sp>
        <p:nvSpPr>
          <p:cNvPr id="11" name="Text 9"/>
          <p:cNvSpPr/>
          <p:nvPr/>
        </p:nvSpPr>
        <p:spPr>
          <a:xfrm>
            <a:off x="777240" y="3019806"/>
            <a:ext cx="5120640" cy="201168"/>
          </a:xfrm>
          <a:prstGeom prst="rect">
            <a:avLst/>
          </a:prstGeom>
          <a:noFill/>
          <a:ln/>
        </p:spPr>
        <p:txBody>
          <a:bodyPr wrap="square" lIns="0" tIns="0" rIns="0" bIns="0" rtlCol="0" anchor="ctr"/>
          <a:lstStyle/>
          <a:p>
            <a:pPr marL="0" indent="0">
              <a:buNone/>
            </a:pPr>
            <a:r>
              <a:rPr lang="en-US" sz="1150" b="1" dirty="0">
                <a:solidFill>
                  <a:srgbClr val="262637"/>
                </a:solidFill>
              </a:rPr>
              <a:t>3. Transport Victoria Open Data — Accident Location / Node resources</a:t>
            </a:r>
            <a:endParaRPr lang="en-US" sz="1150" dirty="0"/>
          </a:p>
        </p:txBody>
      </p:sp>
      <p:sp>
        <p:nvSpPr>
          <p:cNvPr id="12" name="Text 10"/>
          <p:cNvSpPr/>
          <p:nvPr/>
        </p:nvSpPr>
        <p:spPr>
          <a:xfrm>
            <a:off x="6080760" y="3019806"/>
            <a:ext cx="5394960" cy="201168"/>
          </a:xfrm>
          <a:prstGeom prst="rect">
            <a:avLst/>
          </a:prstGeom>
          <a:noFill/>
          <a:ln/>
        </p:spPr>
        <p:txBody>
          <a:bodyPr wrap="square" lIns="0" tIns="0" rIns="0" bIns="0" rtlCol="0" anchor="t">
            <a:normAutofit/>
          </a:bodyPr>
          <a:lstStyle/>
          <a:p>
            <a:pPr marL="0" indent="0" algn="l">
              <a:buNone/>
            </a:pPr>
            <a:r>
              <a:rPr lang="en-US" sz="950" dirty="0">
                <a:solidFill>
                  <a:srgbClr val="5F6070"/>
                </a:solidFill>
              </a:rPr>
              <a:t>https://opendata.transport.vic.gov.au/dataset/victoria-road-crash-data</a:t>
            </a:r>
            <a:endParaRPr lang="en-US" sz="950" dirty="0"/>
          </a:p>
        </p:txBody>
      </p:sp>
      <p:sp>
        <p:nvSpPr>
          <p:cNvPr id="13" name="Text 11"/>
          <p:cNvSpPr/>
          <p:nvPr/>
        </p:nvSpPr>
        <p:spPr>
          <a:xfrm>
            <a:off x="777240" y="3678174"/>
            <a:ext cx="5120640" cy="201168"/>
          </a:xfrm>
          <a:prstGeom prst="rect">
            <a:avLst/>
          </a:prstGeom>
          <a:noFill/>
          <a:ln/>
        </p:spPr>
        <p:txBody>
          <a:bodyPr wrap="square" lIns="0" tIns="0" rIns="0" bIns="0" rtlCol="0" anchor="ctr"/>
          <a:lstStyle/>
          <a:p>
            <a:pPr marL="0" indent="0">
              <a:buNone/>
            </a:pPr>
            <a:r>
              <a:rPr lang="en-US" sz="1150" b="1" dirty="0">
                <a:solidFill>
                  <a:srgbClr val="262637"/>
                </a:solidFill>
              </a:rPr>
              <a:t>4. Victorian Road Safety Strategy 2021–2030</a:t>
            </a:r>
            <a:endParaRPr lang="en-US" sz="1150" dirty="0"/>
          </a:p>
        </p:txBody>
      </p:sp>
      <p:sp>
        <p:nvSpPr>
          <p:cNvPr id="14" name="Text 12"/>
          <p:cNvSpPr/>
          <p:nvPr/>
        </p:nvSpPr>
        <p:spPr>
          <a:xfrm>
            <a:off x="6080760" y="3678174"/>
            <a:ext cx="5394960" cy="201168"/>
          </a:xfrm>
          <a:prstGeom prst="rect">
            <a:avLst/>
          </a:prstGeom>
          <a:noFill/>
          <a:ln/>
        </p:spPr>
        <p:txBody>
          <a:bodyPr wrap="square" lIns="0" tIns="0" rIns="0" bIns="0" rtlCol="0" anchor="t">
            <a:normAutofit fontScale="92500"/>
          </a:bodyPr>
          <a:lstStyle/>
          <a:p>
            <a:pPr marL="0" indent="0" algn="l">
              <a:buNone/>
            </a:pPr>
            <a:r>
              <a:rPr lang="en-US" sz="950" dirty="0">
                <a:solidFill>
                  <a:srgbClr val="5F6070"/>
                </a:solidFill>
              </a:rPr>
              <a:t>https://www.tac.vic.gov.au/road-safety/victorian-road-safety-strategy/victorian-road-safety-strategy-2021-2030</a:t>
            </a:r>
            <a:endParaRPr lang="en-US" sz="950" dirty="0"/>
          </a:p>
        </p:txBody>
      </p:sp>
      <p:sp>
        <p:nvSpPr>
          <p:cNvPr id="15" name="Text 13"/>
          <p:cNvSpPr/>
          <p:nvPr/>
        </p:nvSpPr>
        <p:spPr>
          <a:xfrm>
            <a:off x="777240" y="4336542"/>
            <a:ext cx="5120640" cy="201168"/>
          </a:xfrm>
          <a:prstGeom prst="rect">
            <a:avLst/>
          </a:prstGeom>
          <a:noFill/>
          <a:ln/>
        </p:spPr>
        <p:txBody>
          <a:bodyPr wrap="square" lIns="0" tIns="0" rIns="0" bIns="0" rtlCol="0" anchor="ctr"/>
          <a:lstStyle/>
          <a:p>
            <a:pPr marL="0" indent="0">
              <a:buNone/>
            </a:pPr>
            <a:r>
              <a:rPr lang="en-US" sz="1150" b="1" dirty="0">
                <a:solidFill>
                  <a:srgbClr val="262637"/>
                </a:solidFill>
              </a:rPr>
              <a:t>5. National Road Safety Strategy 2021–2030</a:t>
            </a:r>
            <a:endParaRPr lang="en-US" sz="1150" dirty="0"/>
          </a:p>
        </p:txBody>
      </p:sp>
      <p:sp>
        <p:nvSpPr>
          <p:cNvPr id="16" name="Text 14"/>
          <p:cNvSpPr/>
          <p:nvPr/>
        </p:nvSpPr>
        <p:spPr>
          <a:xfrm>
            <a:off x="6080760" y="4336542"/>
            <a:ext cx="5394960" cy="201168"/>
          </a:xfrm>
          <a:prstGeom prst="rect">
            <a:avLst/>
          </a:prstGeom>
          <a:noFill/>
          <a:ln/>
        </p:spPr>
        <p:txBody>
          <a:bodyPr wrap="square" lIns="0" tIns="0" rIns="0" bIns="0" rtlCol="0" anchor="t">
            <a:normAutofit/>
          </a:bodyPr>
          <a:lstStyle/>
          <a:p>
            <a:pPr marL="0" indent="0" algn="l">
              <a:buNone/>
            </a:pPr>
            <a:r>
              <a:rPr lang="en-US" sz="950" dirty="0">
                <a:solidFill>
                  <a:srgbClr val="5F6070"/>
                </a:solidFill>
              </a:rPr>
              <a:t>https://www.roadsafety.gov.au/nrss</a:t>
            </a:r>
            <a:endParaRPr lang="en-US" sz="950" dirty="0"/>
          </a:p>
        </p:txBody>
      </p:sp>
      <p:sp>
        <p:nvSpPr>
          <p:cNvPr id="19" name="Text 17"/>
          <p:cNvSpPr/>
          <p:nvPr/>
        </p:nvSpPr>
        <p:spPr>
          <a:xfrm>
            <a:off x="685800" y="5989320"/>
            <a:ext cx="10789920" cy="457200"/>
          </a:xfrm>
          <a:prstGeom prst="rect">
            <a:avLst/>
          </a:prstGeom>
          <a:noFill/>
          <a:ln/>
        </p:spPr>
        <p:txBody>
          <a:bodyPr wrap="square" lIns="0" tIns="0" rIns="0" bIns="0" rtlCol="0" anchor="ctr"/>
          <a:lstStyle/>
          <a:p>
            <a:pPr marL="0" indent="0" algn="ctr">
              <a:buNone/>
            </a:pPr>
            <a:r>
              <a:rPr lang="en-US" sz="2600" b="1" dirty="0">
                <a:solidFill>
                  <a:srgbClr val="17264A"/>
                </a:solidFill>
              </a:rPr>
              <a:t>Thank you</a:t>
            </a:r>
            <a:endParaRPr lang="en-US" sz="2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105</TotalTime>
  <Words>2325</Words>
  <Application>Microsoft Office PowerPoint</Application>
  <PresentationFormat>Widescreen</PresentationFormat>
  <Paragraphs>273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Purwadhika /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Victoria Crash Data Dashboard 2019-2023</dc:title>
  <dc:subject>Victoria Crash Data Dashboard 2019-2023 Capstone Presentation</dc:subject>
  <dc:creator>Reyhan Todo Noer Yamin</dc:creator>
  <cp:lastModifiedBy>Reyhan Todo Noer Yamin</cp:lastModifiedBy>
  <cp:revision>36</cp:revision>
  <dcterms:created xsi:type="dcterms:W3CDTF">2026-06-09T12:07:27Z</dcterms:created>
  <dcterms:modified xsi:type="dcterms:W3CDTF">2026-06-20T06:38:13Z</dcterms:modified>
</cp:coreProperties>
</file>