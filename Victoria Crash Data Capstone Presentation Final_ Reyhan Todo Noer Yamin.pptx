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2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3042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capstone project and the purpose of the dashboard: converting raw crash data into actionable road-safety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justify the project. The goal is not only visualization but road safety decision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analytical structure that guides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the presentation uses the final cleaned/merged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show that all final columns were understood before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severity and light condition code interpretation is critical.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summarizes the actual notebook cleaning process in a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the clean data status and why categorical methods were more meaningful.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gives the audience an overview of the deliverable.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Temporal insights are usually easy for stakeholders to 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Cause overview combines DCA, RMA and speed-zone relationships.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the heatmaps show relationships more clearly than simple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is the most practical output for location-based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helps explain how to defend the analytical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each recommendation to prior dashboard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practical value of the dashboard and future improvement opportunities.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13011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30141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26425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53872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36007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94922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36769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77091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59119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2462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10572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0099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352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1072134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4400" b="1" dirty="0"/>
              <a:t>Victoria Crash Data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/>
              <a:t>Dashboard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230428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/>
              <a:t>2019–2023 | Capstone 2 Project Presentation</a:t>
            </a:r>
          </a:p>
        </p:txBody>
      </p:sp>
      <p:sp>
        <p:nvSpPr>
          <p:cNvPr id="4" name="Shape 2"/>
          <p:cNvSpPr/>
          <p:nvPr/>
        </p:nvSpPr>
        <p:spPr>
          <a:xfrm>
            <a:off x="713232" y="2816352"/>
            <a:ext cx="1417320" cy="0"/>
          </a:xfrm>
          <a:prstGeom prst="line">
            <a:avLst/>
          </a:prstGeom>
          <a:noFill/>
          <a:ln w="17780">
            <a:solidFill>
              <a:srgbClr val="8EC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315468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/>
              <a:t>A road-safety analytics project using Python and Power BI to identify crash timing patterns, severity relationships, accident causes, and location hotspots across Victoria.</a:t>
            </a:r>
          </a:p>
        </p:txBody>
      </p:sp>
      <p:sp>
        <p:nvSpPr>
          <p:cNvPr id="6" name="Text 4"/>
          <p:cNvSpPr/>
          <p:nvPr/>
        </p:nvSpPr>
        <p:spPr>
          <a:xfrm>
            <a:off x="713232" y="58064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/>
              <a:t>Reyhan Todo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61081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/>
              <a:t>Purwadhika Digital Technology School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F180321-4786-5F2A-8CCC-92A4C80DA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629" y="236103"/>
            <a:ext cx="4285106" cy="6592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264A"/>
          </a:solidFill>
          <a:ln w="12700">
            <a:solidFill>
              <a:srgbClr val="1726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Background &amp; Problem Context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DE2FF"/>
                </a:solidFill>
              </a:rPr>
              <a:t>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7160B8"/>
          </a:solidFill>
          <a:ln w="12700">
            <a:solidFill>
              <a:srgbClr val="716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78991"/>
            <a:ext cx="10972800" cy="8539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62637"/>
                </a:solidFill>
              </a:rPr>
              <a:t>Road trauma is a measurable public-safety issue, and Australia/Victoria both have formal targets to reduce deaths and serious injuries.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63525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7160B8"/>
                </a:solidFill>
              </a:rPr>
              <a:t>National target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04673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5F6070"/>
                </a:solidFill>
              </a:rPr>
              <a:t>National Road Safety Strategy 2021–2030 targets at least a 50% reduction in fatalities and 30% reduction in serious injuries by 2030.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731520" y="4180586"/>
            <a:ext cx="2971800" cy="0"/>
          </a:xfrm>
          <a:prstGeom prst="line">
            <a:avLst/>
          </a:prstGeom>
          <a:noFill/>
          <a:ln w="17780">
            <a:solidFill>
              <a:srgbClr val="716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263525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EC8C5"/>
                </a:solidFill>
              </a:rPr>
              <a:t>Victorian target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304673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5F6070"/>
                </a:solidFill>
              </a:rPr>
              <a:t>Victorian Road Safety Strategy 2021–2030 aims to halve road deaths and progressively reduce serious injuries by 2030.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4526280" y="4180586"/>
            <a:ext cx="2971800" cy="0"/>
          </a:xfrm>
          <a:prstGeom prst="line">
            <a:avLst/>
          </a:prstGeom>
          <a:noFill/>
          <a:ln w="17780">
            <a:solidFill>
              <a:srgbClr val="8EC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21040" y="263525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D49A84"/>
                </a:solidFill>
              </a:rPr>
              <a:t>Open data value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21040" y="304673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5F6070"/>
                </a:solidFill>
              </a:rPr>
              <a:t>Transport Victoria crash data is consolidated from Victoria Police reports and hospital injury information, then validated and enriched with time, location, conditions and crash type.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8321040" y="4180586"/>
            <a:ext cx="2971800" cy="0"/>
          </a:xfrm>
          <a:prstGeom prst="line">
            <a:avLst/>
          </a:prstGeom>
          <a:noFill/>
          <a:ln w="17780">
            <a:solidFill>
              <a:srgbClr val="D49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64282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17A8D"/>
                </a:solidFill>
              </a:rPr>
              <a:t>Sources: National Road Safety Strategy 2021–2030; Victorian Road Safety Strategy 2021–2030; Transport Victoria Open Data.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264A"/>
          </a:solidFill>
          <a:ln w="12700">
            <a:solidFill>
              <a:srgbClr val="1726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Project Objective &amp; Analytical Questions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DE2FF"/>
                </a:solidFill>
              </a:rPr>
              <a:t>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7160B8"/>
          </a:solidFill>
          <a:ln w="12700">
            <a:solidFill>
              <a:srgbClr val="716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160B8"/>
                </a:solidFill>
              </a:rPr>
              <a:t>Objective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37"/>
                </a:solidFill>
              </a:rPr>
              <a:t>Build a cleaned, interactive crash analytics dashboard that explains when, where, how, and how severely crashes occur in Victoria from 2019–2023.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7160B8"/>
                </a:solidFill>
              </a:rPr>
              <a:t>When do crashes happen?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4663440" y="237744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F6070"/>
                </a:solidFill>
              </a:rPr>
              <a:t>Hour, time period, day of week, monthly trend, yearly trend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868680" y="2715768"/>
            <a:ext cx="10332720" cy="0"/>
          </a:xfrm>
          <a:prstGeom prst="line">
            <a:avLst/>
          </a:prstGeom>
          <a:noFill/>
          <a:ln w="17780">
            <a:solidFill>
              <a:srgbClr val="DE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0358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8EC8C5"/>
                </a:solidFill>
              </a:rPr>
              <a:t>What types of crashes dominate?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663440" y="3035808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F6070"/>
                </a:solidFill>
              </a:rPr>
              <a:t>DCA description, accident type distribution and speed-zone relationship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868680" y="3374136"/>
            <a:ext cx="10332720" cy="0"/>
          </a:xfrm>
          <a:prstGeom prst="line">
            <a:avLst/>
          </a:prstGeom>
          <a:noFill/>
          <a:ln w="17780">
            <a:solidFill>
              <a:srgbClr val="DE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36941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7160B8"/>
                </a:solidFill>
              </a:rPr>
              <a:t>Where are the hotspots?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4663440" y="3694176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F6070"/>
                </a:solidFill>
              </a:rPr>
              <a:t>Node ID, road name, LGA, latitude and longitude mapping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868680" y="4032504"/>
            <a:ext cx="10332720" cy="0"/>
          </a:xfrm>
          <a:prstGeom prst="line">
            <a:avLst/>
          </a:prstGeom>
          <a:noFill/>
          <a:ln w="17780">
            <a:solidFill>
              <a:srgbClr val="DE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43525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8EC8C5"/>
                </a:solidFill>
              </a:rPr>
              <a:t>Which conditions matter?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4663440" y="4352544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F6070"/>
                </a:solidFill>
              </a:rPr>
              <a:t>Speed zone, light condition, road geometry, RMA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868680" y="4690872"/>
            <a:ext cx="10332720" cy="0"/>
          </a:xfrm>
          <a:prstGeom prst="line">
            <a:avLst/>
          </a:prstGeom>
          <a:noFill/>
          <a:ln w="17780">
            <a:solidFill>
              <a:srgbClr val="DE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50109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7160B8"/>
                </a:solidFill>
              </a:rPr>
              <a:t>How serious are outcomes?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4663440" y="5010912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F6070"/>
                </a:solidFill>
              </a:rPr>
              <a:t>Fatal, serious, other injury and severe accident rate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868680" y="5349240"/>
            <a:ext cx="10332720" cy="0"/>
          </a:xfrm>
          <a:prstGeom prst="line">
            <a:avLst/>
          </a:prstGeom>
          <a:noFill/>
          <a:ln w="17780">
            <a:solidFill>
              <a:srgbClr val="DE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264A"/>
          </a:solidFill>
          <a:ln w="12700">
            <a:solidFill>
              <a:srgbClr val="1726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Dataset Scope &amp; Final Analytical Sample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DE2FF"/>
                </a:solidFill>
              </a:rPr>
              <a:t>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7160B8"/>
          </a:solidFill>
          <a:ln w="12700">
            <a:solidFill>
              <a:srgbClr val="716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89710" y="1234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160B8"/>
                </a:solidFill>
              </a:rPr>
              <a:t>60,215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89710" y="16733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5F6070"/>
                </a:solidFill>
              </a:rPr>
              <a:t>Final accident records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1626870" y="2039112"/>
            <a:ext cx="1737360" cy="0"/>
          </a:xfrm>
          <a:prstGeom prst="line">
            <a:avLst/>
          </a:prstGeom>
          <a:noFill/>
          <a:ln w="17780">
            <a:solidFill>
              <a:srgbClr val="716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75710" y="1234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C8C5"/>
                </a:solidFill>
              </a:rPr>
              <a:t>25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75710" y="16733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5F6070"/>
                </a:solidFill>
              </a:rPr>
              <a:t>Columns after preparation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3912870" y="2039112"/>
            <a:ext cx="1737360" cy="0"/>
          </a:xfrm>
          <a:prstGeom prst="line">
            <a:avLst/>
          </a:prstGeom>
          <a:noFill/>
          <a:ln w="17780">
            <a:solidFill>
              <a:srgbClr val="8EC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61710" y="1234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9A84"/>
                </a:solidFill>
              </a:rPr>
              <a:t>2019–2023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061710" y="16733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5F6070"/>
                </a:solidFill>
              </a:rPr>
              <a:t>Analysis period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198870" y="2039112"/>
            <a:ext cx="1737360" cy="0"/>
          </a:xfrm>
          <a:prstGeom prst="line">
            <a:avLst/>
          </a:prstGeom>
          <a:noFill/>
          <a:ln w="17780">
            <a:solidFill>
              <a:srgbClr val="D49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47710" y="1234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64A"/>
                </a:solidFill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47710" y="16733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5F6070"/>
                </a:solidFill>
              </a:rPr>
              <a:t>Power BI dashboard pages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8484870" y="2039112"/>
            <a:ext cx="1737360" cy="0"/>
          </a:xfrm>
          <a:prstGeom prst="line">
            <a:avLst/>
          </a:prstGeom>
          <a:noFill/>
          <a:ln w="17780">
            <a:solidFill>
              <a:srgbClr val="1726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160B8"/>
                </a:solidFill>
              </a:rPr>
              <a:t>Data sources used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200400"/>
            <a:ext cx="530352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62637"/>
                </a:solidFill>
              </a:rPr>
              <a:t>Transport Victoria open crash data: accident identifiers, date/time, severity, DCA category, speed zone, light condition, road geometry and RMA.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62637"/>
                </a:solidFill>
              </a:rPr>
              <a:t>Detailed location dataset: ROAD_NAME, LGA_NAME, LATITUDE and LONGITUDE.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62637"/>
                </a:solidFill>
              </a:rPr>
              <a:t>Derived fields from the notebook: YEAR, MONTH, MONTH_NAME, HOUR, TIME_PERIOD and DAY_TYPE.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644652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160B8"/>
                </a:solidFill>
              </a:rPr>
              <a:t>Scope decision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32004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5F6070"/>
                </a:solidFill>
              </a:rPr>
              <a:t>The analysis was simplified to 2019–2023 to keep the project manageable while still covering a multi-year period. The final file was imported into Power BI after validation and location enrichment.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502920" y="6273800"/>
            <a:ext cx="10515600" cy="428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17A8D"/>
                </a:solidFill>
              </a:rPr>
              <a:t>Sources: Transport Victoria Open Data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264A"/>
          </a:solidFill>
          <a:ln w="12700">
            <a:solidFill>
              <a:srgbClr val="1726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Data Understanding: Final Columns Used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DE2FF"/>
                </a:solidFill>
              </a:rPr>
              <a:t>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7160B8"/>
          </a:solidFill>
          <a:ln w="12700">
            <a:solidFill>
              <a:srgbClr val="716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9875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F6070"/>
                </a:solidFill>
              </a:rPr>
              <a:t>The final dataset combines official crash attributes with derived dashboard fields.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7160B8"/>
                </a:solidFill>
              </a:rPr>
              <a:t>Identifier &amp; location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49377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62637"/>
                </a:solidFill>
              </a:rPr>
              <a:t>ACCIDENT_NO: unique crash record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62637"/>
                </a:solidFill>
              </a:rPr>
              <a:t>NODE_ID: crash location identifier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62637"/>
                </a:solidFill>
              </a:rPr>
              <a:t>ROAD_NAME: crash road name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62637"/>
                </a:solidFill>
              </a:rPr>
              <a:t>LGA_NAME: local government area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62637"/>
                </a:solidFill>
              </a:rPr>
              <a:t>LATITUDE / LONGITUDE: map coordinates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731520" y="3593592"/>
            <a:ext cx="4709160" cy="0"/>
          </a:xfrm>
          <a:prstGeom prst="line">
            <a:avLst/>
          </a:prstGeom>
          <a:noFill/>
          <a:ln w="17780">
            <a:solidFill>
              <a:srgbClr val="716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EC8C5"/>
                </a:solidFill>
              </a:rPr>
              <a:t>Time fields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49377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62637"/>
                </a:solidFill>
              </a:rPr>
              <a:t>ACCIDENT_DATE / ACCIDENT_TIME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62637"/>
                </a:solidFill>
              </a:rPr>
              <a:t>DAY_OF_WEEK / DAY_WEEK_DESC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62637"/>
                </a:solidFill>
              </a:rPr>
              <a:t>YEAR / MONTH / MONTH_NAME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62637"/>
                </a:solidFill>
              </a:rPr>
              <a:t>HOUR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62637"/>
                </a:solidFill>
              </a:rPr>
              <a:t>TIME_PERIOD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62637"/>
                </a:solidFill>
              </a:rPr>
              <a:t>DAY_TYPE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731520" y="5879592"/>
            <a:ext cx="4709160" cy="0"/>
          </a:xfrm>
          <a:prstGeom prst="line">
            <a:avLst/>
          </a:prstGeom>
          <a:noFill/>
          <a:ln w="17780">
            <a:solidFill>
              <a:srgbClr val="8EC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0" y="1600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D49A84"/>
                </a:solidFill>
              </a:rPr>
              <a:t>Crash classification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2011680"/>
            <a:ext cx="49377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62637"/>
                </a:solidFill>
              </a:rPr>
              <a:t>ACCIDENT_TYPE / ACCIDENT_TYPE_DESC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62637"/>
                </a:solidFill>
              </a:rPr>
              <a:t>DCA_CODE / DCA_DESC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62637"/>
                </a:solidFill>
              </a:rPr>
              <a:t>SEVERITY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309360" y="3593592"/>
            <a:ext cx="4709160" cy="0"/>
          </a:xfrm>
          <a:prstGeom prst="line">
            <a:avLst/>
          </a:prstGeom>
          <a:noFill/>
          <a:ln w="17780">
            <a:solidFill>
              <a:srgbClr val="D49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0" y="3886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64A"/>
                </a:solidFill>
              </a:rPr>
              <a:t>Road environment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4297680"/>
            <a:ext cx="49377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62637"/>
                </a:solidFill>
              </a:rPr>
              <a:t>LIGHT_CONDITION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62637"/>
                </a:solidFill>
              </a:rPr>
              <a:t>ROAD_GEOMETRY_DESC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62637"/>
                </a:solidFill>
              </a:rPr>
              <a:t>SPEED_ZONE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62637"/>
                </a:solidFill>
              </a:rPr>
              <a:t>RMA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309360" y="5879592"/>
            <a:ext cx="4709160" cy="0"/>
          </a:xfrm>
          <a:prstGeom prst="line">
            <a:avLst/>
          </a:prstGeom>
          <a:noFill/>
          <a:ln w="17780">
            <a:solidFill>
              <a:srgbClr val="1726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17A8D"/>
                </a:solidFill>
              </a:rPr>
              <a:t>Definitions summarized from the official Transport Victoria data dictionary and project-derived fields.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264A"/>
          </a:solidFill>
          <a:ln w="12700">
            <a:solidFill>
              <a:srgbClr val="1726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Data Dictionary: Key Codes &amp; Definitions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DE2FF"/>
                </a:solidFill>
              </a:rPr>
              <a:t>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7160B8"/>
          </a:solidFill>
          <a:ln w="12700">
            <a:solidFill>
              <a:srgbClr val="716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9875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F6070"/>
                </a:solidFill>
              </a:rPr>
              <a:t>Key code fields were interpreted before analysis to avoid treating category labels as continuous values.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35B52"/>
                </a:solidFill>
              </a:rPr>
              <a:t>Severity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38528"/>
            <a:ext cx="27432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10" dirty="0">
                <a:solidFill>
                  <a:srgbClr val="262637"/>
                </a:solidFill>
              </a:rPr>
              <a:t>1 = Fatal accident</a:t>
            </a:r>
            <a:endParaRPr lang="en-US" sz="1210" dirty="0"/>
          </a:p>
          <a:p>
            <a:pPr marL="152400" indent="-152400">
              <a:buSzPct val="100000"/>
              <a:buChar char="•"/>
            </a:pPr>
            <a:r>
              <a:rPr lang="en-US" sz="1210" dirty="0">
                <a:solidFill>
                  <a:srgbClr val="262637"/>
                </a:solidFill>
              </a:rPr>
              <a:t>2 = Serious injury accident</a:t>
            </a:r>
            <a:endParaRPr lang="en-US" sz="1210" dirty="0"/>
          </a:p>
          <a:p>
            <a:pPr marL="152400" indent="-152400">
              <a:buSzPct val="100000"/>
              <a:buChar char="•"/>
            </a:pPr>
            <a:r>
              <a:rPr lang="en-US" sz="1210" dirty="0">
                <a:solidFill>
                  <a:srgbClr val="262637"/>
                </a:solidFill>
              </a:rPr>
              <a:t>3 = Other injury accident</a:t>
            </a:r>
            <a:endParaRPr lang="en-US" sz="1210" dirty="0"/>
          </a:p>
          <a:p>
            <a:pPr marL="152400" indent="-152400">
              <a:buSzPct val="100000"/>
              <a:buChar char="•"/>
            </a:pPr>
            <a:r>
              <a:rPr lang="en-US" sz="1210" dirty="0">
                <a:solidFill>
                  <a:srgbClr val="262637"/>
                </a:solidFill>
              </a:rPr>
              <a:t>4 = Non-injury accident</a:t>
            </a:r>
            <a:endParaRPr lang="en-US" sz="1210" dirty="0"/>
          </a:p>
        </p:txBody>
      </p:sp>
      <p:sp>
        <p:nvSpPr>
          <p:cNvPr id="9" name="Text 7"/>
          <p:cNvSpPr/>
          <p:nvPr/>
        </p:nvSpPr>
        <p:spPr>
          <a:xfrm>
            <a:off x="365760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160B8"/>
                </a:solidFill>
              </a:rPr>
              <a:t>Light condition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1938528"/>
            <a:ext cx="30632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262637"/>
                </a:solidFill>
              </a:rPr>
              <a:t>1 = Day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262637"/>
                </a:solidFill>
              </a:rPr>
              <a:t>2 = Dusk/dawn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262637"/>
                </a:solidFill>
              </a:rPr>
              <a:t>3 = Dark, street lights on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262637"/>
                </a:solidFill>
              </a:rPr>
              <a:t>4 = Dark, street lights off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262637"/>
                </a:solidFill>
              </a:rPr>
              <a:t>5 = Dark, no street lights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262637"/>
                </a:solidFill>
              </a:rPr>
              <a:t>6 = Dark lighting unknown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262637"/>
                </a:solidFill>
              </a:rPr>
              <a:t>9 = Unknown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13232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8EC8C5"/>
                </a:solidFill>
              </a:rPr>
              <a:t>Road geometry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1938528"/>
            <a:ext cx="42062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10" dirty="0">
                <a:solidFill>
                  <a:srgbClr val="262637"/>
                </a:solidFill>
              </a:rPr>
              <a:t>Cross / T / Y / multiple intersections</a:t>
            </a:r>
            <a:endParaRPr lang="en-US" sz="1210" dirty="0"/>
          </a:p>
          <a:p>
            <a:pPr marL="152400" indent="-152400">
              <a:buSzPct val="100000"/>
              <a:buChar char="•"/>
            </a:pPr>
            <a:r>
              <a:rPr lang="en-US" sz="1210" dirty="0">
                <a:solidFill>
                  <a:srgbClr val="262637"/>
                </a:solidFill>
              </a:rPr>
              <a:t>Not at intersection</a:t>
            </a:r>
            <a:endParaRPr lang="en-US" sz="1210" dirty="0"/>
          </a:p>
          <a:p>
            <a:pPr marL="152400" indent="-152400">
              <a:buSzPct val="100000"/>
              <a:buChar char="•"/>
            </a:pPr>
            <a:r>
              <a:rPr lang="en-US" sz="1210" dirty="0">
                <a:solidFill>
                  <a:srgbClr val="262637"/>
                </a:solidFill>
              </a:rPr>
              <a:t>Dead end / road closure</a:t>
            </a:r>
            <a:endParaRPr lang="en-US" sz="1210" dirty="0"/>
          </a:p>
          <a:p>
            <a:pPr marL="152400" indent="-152400">
              <a:buSzPct val="100000"/>
              <a:buChar char="•"/>
            </a:pPr>
            <a:r>
              <a:rPr lang="en-US" sz="1210" dirty="0">
                <a:solidFill>
                  <a:srgbClr val="262637"/>
                </a:solidFill>
              </a:rPr>
              <a:t>Private property / unknown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731520" y="4160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49A84"/>
                </a:solidFill>
              </a:rPr>
              <a:t>DCA code and description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55371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5F6070"/>
                </a:solidFill>
              </a:rPr>
              <a:t>Definition for Classifying Accidents: detailed crash movement/type such as rear-end, right-through, cross-traffic, off-carriageway and pedestrian-related events.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172200" y="4160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264A"/>
                </a:solidFill>
              </a:rPr>
              <a:t>Project-specific sorting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72200" y="455371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5F6070"/>
                </a:solidFill>
              </a:rPr>
              <a:t>DAY_OF_WEEK was standardized as Monday = 1 through Sunday = 7 for dashboard sorting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17A8D"/>
                </a:solidFill>
              </a:rPr>
              <a:t>Source: Transport Victoria Open Data Dictionary.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264A"/>
          </a:solidFill>
          <a:ln w="12700">
            <a:solidFill>
              <a:srgbClr val="1726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Data Cleaning &amp; Preparation Workflow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DE2FF"/>
                </a:solidFill>
              </a:rPr>
              <a:t>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7160B8"/>
          </a:solidFill>
          <a:ln w="12700">
            <a:solidFill>
              <a:srgbClr val="716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44700" y="14173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160B8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24660" y="1920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62637"/>
                </a:solidFill>
              </a:rPr>
              <a:t>Reduce scope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41780" y="22677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F6070"/>
                </a:solidFill>
              </a:rPr>
              <a:t>Filtered to 2019–2023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639060" y="1600200"/>
            <a:ext cx="1234440" cy="0"/>
          </a:xfrm>
          <a:prstGeom prst="line">
            <a:avLst/>
          </a:prstGeom>
          <a:noFill/>
          <a:ln w="17780">
            <a:solidFill>
              <a:srgbClr val="BFB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12412" y="14173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EC8C5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992372" y="1920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62637"/>
                </a:solidFill>
              </a:rPr>
              <a:t>Parse dates/time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09492" y="22677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F6070"/>
                </a:solidFill>
              </a:rPr>
              <a:t>Created YEAR, MONTH, HOUR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906772" y="1600200"/>
            <a:ext cx="1234440" cy="0"/>
          </a:xfrm>
          <a:prstGeom prst="line">
            <a:avLst/>
          </a:prstGeom>
          <a:noFill/>
          <a:ln w="17780">
            <a:solidFill>
              <a:srgbClr val="BFB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0124" y="14173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9A84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60084" y="1920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62637"/>
                </a:solidFill>
              </a:rPr>
              <a:t>Validate weekdays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77204" y="22677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F6070"/>
                </a:solidFill>
              </a:rPr>
              <a:t>Fixed DAY_OF_WEEK sorting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174484" y="1600200"/>
            <a:ext cx="1234440" cy="0"/>
          </a:xfrm>
          <a:prstGeom prst="line">
            <a:avLst/>
          </a:prstGeom>
          <a:noFill/>
          <a:ln w="17780">
            <a:solidFill>
              <a:srgbClr val="BFB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847836" y="14173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264A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27796" y="1920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00" b="1" dirty="0">
                <a:solidFill>
                  <a:srgbClr val="262637"/>
                </a:solidFill>
              </a:rPr>
              <a:t>Extra fields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44916" y="22677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1080" dirty="0">
                <a:solidFill>
                  <a:srgbClr val="5F6070"/>
                </a:solidFill>
              </a:rPr>
              <a:t>Created TIME_PERIOD and DAY_TYPE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73152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160B8"/>
                </a:solidFill>
              </a:rPr>
              <a:t>Final cleaning result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" y="4297680"/>
            <a:ext cx="10789920" cy="96011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262637"/>
                </a:solidFill>
              </a:rPr>
              <a:t>Final dataset: 60,215 rows × 25 columns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262637"/>
                </a:solidFill>
              </a:rPr>
              <a:t>No missing values No duplicate rows and no duplicate ACCIDENT_NO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262637"/>
                </a:solidFill>
              </a:rPr>
              <a:t>No invalid parsed dates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262637"/>
                </a:solidFill>
              </a:rPr>
              <a:t>DAY_OF_WEEK and DAY_WEEK_DESC fully aligned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264A"/>
          </a:solidFill>
          <a:ln w="12700">
            <a:solidFill>
              <a:srgbClr val="1726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Data Quality &amp; Distribution Checks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DE2FF"/>
                </a:solidFill>
              </a:rPr>
              <a:t>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7160B8"/>
          </a:solidFill>
          <a:ln w="12700">
            <a:solidFill>
              <a:srgbClr val="716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160B8"/>
                </a:solidFill>
              </a:rPr>
              <a:t>Data quality results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507492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62637"/>
                </a:solidFill>
              </a:rPr>
              <a:t>Missing values = 0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62637"/>
                </a:solidFill>
              </a:rPr>
              <a:t>Duplicate rows = 0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62637"/>
                </a:solidFill>
              </a:rPr>
              <a:t>Duplicate ACCIDENT_NO = 0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62637"/>
                </a:solidFill>
              </a:rPr>
              <a:t>Invalid dates = 0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62637"/>
                </a:solidFill>
              </a:rPr>
              <a:t>Day crosstab total = dataframe total (60,215)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62637"/>
                </a:solidFill>
              </a:rPr>
              <a:t>Unknown road geometry = 95 records (0.16%)</a:t>
            </a:r>
            <a:endParaRPr lang="en-US" sz="1260" dirty="0"/>
          </a:p>
        </p:txBody>
      </p:sp>
      <p:sp>
        <p:nvSpPr>
          <p:cNvPr id="8" name="Text 6"/>
          <p:cNvSpPr/>
          <p:nvPr/>
        </p:nvSpPr>
        <p:spPr>
          <a:xfrm>
            <a:off x="617220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160B8"/>
                </a:solidFill>
              </a:rPr>
              <a:t>Distribution observations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72200" y="1508760"/>
            <a:ext cx="516636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62637"/>
                </a:solidFill>
              </a:rPr>
              <a:t>Severity: 1,021 fatal; 22,073 serious; 37,117 other injury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62637"/>
                </a:solidFill>
              </a:rPr>
              <a:t>Speed zone 60 km/h recorded the highest count: 21,511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62637"/>
                </a:solidFill>
              </a:rPr>
              <a:t>Road geometry dominated by “Not at intersection” (31,749)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62637"/>
                </a:solidFill>
              </a:rPr>
              <a:t>RMA dominated by Arterial Other and Local Road, both above 22K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62637"/>
                </a:solidFill>
              </a:rPr>
              <a:t>Shapiro-Wilk checks indicated the numeric-coded variables were not normally distributed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68580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8EC8C5"/>
                </a:solidFill>
              </a:rPr>
              <a:t>Method implication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47091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2637"/>
                </a:solidFill>
              </a:rPr>
              <a:t>Because the dataset is dominated by categorical and discrete coded variables, the analysis prioritizes counts, crosstabs, heatmaps, severe accident rate and hotspot mapping instead of relying on normal-distribution assumptions.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264A"/>
          </a:solidFill>
          <a:ln w="12700">
            <a:solidFill>
              <a:srgbClr val="1726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Power BI Dashboard Structure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DE2FF"/>
                </a:solidFill>
              </a:rPr>
              <a:t>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7160B8"/>
          </a:solidFill>
          <a:ln w="12700">
            <a:solidFill>
              <a:srgbClr val="716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9875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F6070"/>
                </a:solidFill>
              </a:rPr>
              <a:t>Four dashboard pages were built to separate the story by purpose: overview, cause analysis, severity relationships, and location hotspots.</a:t>
            </a:r>
            <a:endParaRPr lang="en-US" sz="1400" dirty="0"/>
          </a:p>
        </p:txBody>
      </p:sp>
      <p:pic>
        <p:nvPicPr>
          <p:cNvPr id="7" name="Image 0" descr="/mnt/data/dashboard_main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064" y="1444752"/>
            <a:ext cx="4117271" cy="2331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444752"/>
            <a:ext cx="534924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1DC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/mnt/data/cause_overview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3904" y="1444752"/>
            <a:ext cx="4117271" cy="23317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17920" y="1444752"/>
            <a:ext cx="534924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1DC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/mnt/data/severity_relationship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1214" y="3977640"/>
            <a:ext cx="3526971" cy="20574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40080" y="3977640"/>
            <a:ext cx="534924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1DC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/mnt/data/hotspot_map_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6892" y="3977640"/>
            <a:ext cx="3511296" cy="20574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217920" y="3977640"/>
            <a:ext cx="534924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1DC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264A"/>
          </a:solidFill>
          <a:ln w="12700">
            <a:solidFill>
              <a:srgbClr val="1726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Crash Trend Patterns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DE2FF"/>
                </a:solidFill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7160B8"/>
          </a:solidFill>
          <a:ln w="12700">
            <a:solidFill>
              <a:srgbClr val="716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dashboard_main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55042"/>
            <a:ext cx="6446520" cy="365083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143000"/>
            <a:ext cx="6446520" cy="5074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1DC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406640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7160B8"/>
                </a:solidFill>
              </a:rPr>
              <a:t>Key results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406640" y="1600200"/>
            <a:ext cx="402336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80" dirty="0">
                <a:solidFill>
                  <a:srgbClr val="262637"/>
                </a:solidFill>
              </a:rPr>
              <a:t>Afternoon peak is the largest time-period group: 18.835 accidents (31.28%).</a:t>
            </a:r>
            <a:endParaRPr lang="en-US" sz="1280" dirty="0"/>
          </a:p>
          <a:p>
            <a:pPr marL="152400" indent="-152400">
              <a:buSzPct val="100000"/>
              <a:buChar char="•"/>
            </a:pPr>
            <a:r>
              <a:rPr lang="en-US" sz="1280" dirty="0">
                <a:solidFill>
                  <a:srgbClr val="262637"/>
                </a:solidFill>
              </a:rPr>
              <a:t>Midday is also high: about 17666 accidents (29.34%).</a:t>
            </a:r>
            <a:endParaRPr lang="en-US" sz="1280" dirty="0"/>
          </a:p>
          <a:p>
            <a:pPr marL="152400" indent="-152400">
              <a:buSzPct val="100000"/>
              <a:buChar char="•"/>
            </a:pPr>
            <a:r>
              <a:rPr lang="en-US" sz="1280" dirty="0">
                <a:solidFill>
                  <a:srgbClr val="262637"/>
                </a:solidFill>
              </a:rPr>
              <a:t>Hourly pattern peaks around afternoon commuting hours.</a:t>
            </a:r>
            <a:endParaRPr lang="en-US" sz="1280" dirty="0"/>
          </a:p>
          <a:p>
            <a:pPr marL="152400" indent="-152400">
              <a:buSzPct val="100000"/>
              <a:buChar char="•"/>
            </a:pPr>
            <a:r>
              <a:rPr lang="en-US" sz="1280" dirty="0">
                <a:solidFill>
                  <a:srgbClr val="262637"/>
                </a:solidFill>
              </a:rPr>
              <a:t>Friday is the highest day; Sunday is the lowest.</a:t>
            </a:r>
            <a:endParaRPr lang="en-US" sz="1280" dirty="0"/>
          </a:p>
          <a:p>
            <a:pPr marL="152400" indent="-152400">
              <a:buSzPct val="100000"/>
              <a:buChar char="•"/>
            </a:pPr>
            <a:r>
              <a:rPr lang="en-US" sz="1280" dirty="0">
                <a:solidFill>
                  <a:srgbClr val="262637"/>
                </a:solidFill>
              </a:rPr>
              <a:t>Weekday totals exceed weekend totals, but exposure should be considered because weekdays cover more days.</a:t>
            </a:r>
            <a:endParaRPr lang="en-US" sz="1280" dirty="0"/>
          </a:p>
        </p:txBody>
      </p:sp>
      <p:sp>
        <p:nvSpPr>
          <p:cNvPr id="10" name="Text 7"/>
          <p:cNvSpPr/>
          <p:nvPr/>
        </p:nvSpPr>
        <p:spPr>
          <a:xfrm>
            <a:off x="740664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00" b="1" dirty="0">
                <a:solidFill>
                  <a:srgbClr val="8EC8C5"/>
                </a:solidFill>
              </a:rPr>
              <a:t>Interpretation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406640" y="49834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5F6070"/>
                </a:solidFill>
              </a:rPr>
              <a:t>Crash risk is time-dependent. Peak-hour and Friday travel patterns are good targets for monitoring, enforcement and public messaging.</a:t>
            </a:r>
            <a:endParaRPr lang="en-US" sz="124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264A"/>
          </a:solidFill>
          <a:ln w="12700">
            <a:solidFill>
              <a:srgbClr val="1726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Accident Cause &amp; Road Authority Patterns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DE2FF"/>
                </a:solidFill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7160B8"/>
          </a:solidFill>
          <a:ln w="12700">
            <a:solidFill>
              <a:srgbClr val="716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cause_overview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030225"/>
            <a:ext cx="5989320" cy="339191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1051560"/>
            <a:ext cx="5989320" cy="5349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1DC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7160B8"/>
                </a:solidFill>
              </a:rPr>
              <a:t>Key results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85800" y="1600200"/>
            <a:ext cx="466344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80" dirty="0">
                <a:solidFill>
                  <a:srgbClr val="262637"/>
                </a:solidFill>
              </a:rPr>
              <a:t>Most common accident type: rear-end crashes in the same lane (11,238 records; 18.66%).</a:t>
            </a:r>
            <a:endParaRPr lang="en-US" sz="1280" dirty="0"/>
          </a:p>
          <a:p>
            <a:pPr marL="152400" indent="-152400">
              <a:buSzPct val="100000"/>
              <a:buChar char="•"/>
            </a:pPr>
            <a:r>
              <a:rPr lang="en-US" sz="1280" dirty="0">
                <a:solidFill>
                  <a:srgbClr val="262637"/>
                </a:solidFill>
              </a:rPr>
              <a:t>Other high-frequency patterns include right-through, cross-traffic at intersections, off-carriageway into objects/parked vehicles and right-near intersection crashes.</a:t>
            </a:r>
            <a:endParaRPr lang="en-US" sz="1280" dirty="0"/>
          </a:p>
          <a:p>
            <a:pPr marL="152400" indent="-152400">
              <a:buSzPct val="100000"/>
              <a:buChar char="•"/>
            </a:pPr>
            <a:r>
              <a:rPr lang="en-US" sz="1280" dirty="0">
                <a:solidFill>
                  <a:srgbClr val="262637"/>
                </a:solidFill>
              </a:rPr>
              <a:t>RMA distribution is concentrated in Arterial Other and Local Road categories, each above 22K crashes.</a:t>
            </a:r>
            <a:endParaRPr lang="en-US" sz="1280" dirty="0"/>
          </a:p>
          <a:p>
            <a:pPr marL="152400" indent="-152400">
              <a:buSzPct val="100000"/>
              <a:buChar char="•"/>
            </a:pPr>
            <a:r>
              <a:rPr lang="en-US" sz="1280" dirty="0">
                <a:solidFill>
                  <a:srgbClr val="262637"/>
                </a:solidFill>
              </a:rPr>
              <a:t>The DCA × Speed Zone heatmap shows many top accident types concentrated in 60 km/h zones.</a:t>
            </a:r>
            <a:endParaRPr lang="en-US" sz="1280" dirty="0"/>
          </a:p>
        </p:txBody>
      </p:sp>
      <p:sp>
        <p:nvSpPr>
          <p:cNvPr id="10" name="Text 7"/>
          <p:cNvSpPr/>
          <p:nvPr/>
        </p:nvSpPr>
        <p:spPr>
          <a:xfrm>
            <a:off x="6858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EC8C5"/>
                </a:solidFill>
              </a:rPr>
              <a:t>Interpretation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50749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5F6070"/>
                </a:solidFill>
              </a:rPr>
              <a:t>Rear-end and intersection-related patterns point to congestion, following distance, turning conflicts and intersection design as major crash themes.</a:t>
            </a:r>
            <a:endParaRPr lang="en-US" sz="124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264A"/>
          </a:solidFill>
          <a:ln w="12700">
            <a:solidFill>
              <a:srgbClr val="1726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Severity Relationship Heatmaps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DE2FF"/>
                </a:solidFill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7160B8"/>
          </a:solidFill>
          <a:ln w="12700">
            <a:solidFill>
              <a:srgbClr val="716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severity_relationship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99260"/>
            <a:ext cx="6949440" cy="4053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1005840"/>
            <a:ext cx="6949440" cy="5440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1DC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7160B8"/>
                </a:solidFill>
              </a:rPr>
              <a:t>Severity summary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85800" y="1691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35B52"/>
                </a:solidFill>
              </a:rPr>
              <a:t>1,021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21305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5F6070"/>
                </a:solidFill>
              </a:rPr>
              <a:t>Fatal accidents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822960" y="2496312"/>
            <a:ext cx="1417320" cy="0"/>
          </a:xfrm>
          <a:prstGeom prst="line">
            <a:avLst/>
          </a:prstGeom>
          <a:noFill/>
          <a:ln w="17780">
            <a:solidFill>
              <a:srgbClr val="B35B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606040" y="16916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160B8"/>
                </a:solidFill>
              </a:rPr>
              <a:t>22,073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606040" y="21305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5F6070"/>
                </a:solidFill>
              </a:rPr>
              <a:t>Serious injury accidents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2743200" y="2496312"/>
            <a:ext cx="1600200" cy="0"/>
          </a:xfrm>
          <a:prstGeom prst="line">
            <a:avLst/>
          </a:prstGeom>
          <a:noFill/>
          <a:ln w="17780">
            <a:solidFill>
              <a:srgbClr val="716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143000" y="28346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64A"/>
                </a:solidFill>
              </a:rPr>
              <a:t>38.35%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143000" y="327355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5F6070"/>
                </a:solidFill>
              </a:rPr>
              <a:t>Severe accident rate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1280160" y="3639312"/>
            <a:ext cx="2423160" cy="0"/>
          </a:xfrm>
          <a:prstGeom prst="line">
            <a:avLst/>
          </a:prstGeom>
          <a:noFill/>
          <a:ln w="17780">
            <a:solidFill>
              <a:srgbClr val="1726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85800" y="4023360"/>
            <a:ext cx="379476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262637"/>
                </a:solidFill>
              </a:rPr>
              <a:t>Severity code 3 is the largest outcome group, but severity 1 and 2 are the key safety-risk priorities.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262637"/>
                </a:solidFill>
              </a:rPr>
              <a:t>Speed zone 60 km/h has the highest accident count.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262637"/>
                </a:solidFill>
              </a:rPr>
              <a:t>Most crashes occur in daylight conditions, likely due to higher daytime traffic exposure.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262637"/>
                </a:solidFill>
              </a:rPr>
              <a:t>Not-at-intersection and intersection-related road geometries dominate the severity matrices.</a:t>
            </a:r>
            <a:endParaRPr lang="en-US" sz="122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264A"/>
          </a:solidFill>
          <a:ln w="12700">
            <a:solidFill>
              <a:srgbClr val="1726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Insight 4 — Accident Hotspot Mapping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DE2FF"/>
                </a:solidFill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7160B8"/>
          </a:solidFill>
          <a:ln w="12700">
            <a:solidFill>
              <a:srgbClr val="716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hotspot_map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31038"/>
            <a:ext cx="6903720" cy="40451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078992"/>
            <a:ext cx="6903720" cy="5349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1DC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81812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7160B8"/>
                </a:solidFill>
              </a:rPr>
              <a:t>How the map works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818120" y="1600200"/>
            <a:ext cx="365760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70" dirty="0">
                <a:solidFill>
                  <a:srgbClr val="262637"/>
                </a:solidFill>
              </a:rPr>
              <a:t>Crash locations are mapped using latitude and longitude from the merged location dataset.</a:t>
            </a:r>
            <a:endParaRPr lang="en-US" sz="1270" dirty="0"/>
          </a:p>
          <a:p>
            <a:pPr marL="152400" indent="-152400">
              <a:buSzPct val="100000"/>
              <a:buChar char="•"/>
            </a:pPr>
            <a:r>
              <a:rPr lang="en-US" sz="1270" dirty="0">
                <a:solidFill>
                  <a:srgbClr val="262637"/>
                </a:solidFill>
              </a:rPr>
              <a:t>NODE_ID identifies crash location; multiple crashes can occur at the same node.</a:t>
            </a:r>
            <a:endParaRPr lang="en-US" sz="1270" dirty="0"/>
          </a:p>
          <a:p>
            <a:pPr marL="152400" indent="-152400">
              <a:buSzPct val="100000"/>
              <a:buChar char="•"/>
            </a:pPr>
            <a:r>
              <a:rPr lang="en-US" sz="1270" dirty="0">
                <a:solidFill>
                  <a:srgbClr val="262637"/>
                </a:solidFill>
              </a:rPr>
              <a:t>Bubble size represents crash count; hotspot levels group nodes by crash frequency.</a:t>
            </a:r>
            <a:endParaRPr lang="en-US" sz="1270" dirty="0"/>
          </a:p>
          <a:p>
            <a:pPr marL="152400" indent="-152400">
              <a:buSzPct val="100000"/>
              <a:buChar char="•"/>
            </a:pPr>
            <a:r>
              <a:rPr lang="en-US" sz="1270" dirty="0">
                <a:solidFill>
                  <a:srgbClr val="262637"/>
                </a:solidFill>
              </a:rPr>
              <a:t>Map supports filtering by hotspot level and time period.</a:t>
            </a:r>
            <a:endParaRPr lang="en-US" sz="1270" dirty="0"/>
          </a:p>
        </p:txBody>
      </p:sp>
      <p:sp>
        <p:nvSpPr>
          <p:cNvPr id="10" name="Text 7"/>
          <p:cNvSpPr/>
          <p:nvPr/>
        </p:nvSpPr>
        <p:spPr>
          <a:xfrm>
            <a:off x="781812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EC8C5"/>
                </a:solidFill>
              </a:rPr>
              <a:t>Result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18120" y="41605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5F6070"/>
                </a:solidFill>
              </a:rPr>
              <a:t>Hotspots concentrate around Victoria’s urban and road-network corridors, especially metropolitan Melbourne and key regional corridors.</a:t>
            </a:r>
            <a:endParaRPr lang="en-US" sz="1230" dirty="0"/>
          </a:p>
        </p:txBody>
      </p:sp>
      <p:sp>
        <p:nvSpPr>
          <p:cNvPr id="12" name="Text 9"/>
          <p:cNvSpPr/>
          <p:nvPr/>
        </p:nvSpPr>
        <p:spPr>
          <a:xfrm>
            <a:off x="7818120" y="5166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EC8C5"/>
                </a:solidFill>
              </a:rPr>
              <a:t>Use case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818120" y="54864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070"/>
                </a:solidFill>
              </a:rPr>
              <a:t>Combine hotspot frequency with severity rate to prioritize road safety audits, signage, lighting, lane design and intersection treatments.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264A"/>
          </a:solidFill>
          <a:ln w="12700">
            <a:solidFill>
              <a:srgbClr val="1726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Statistical Relationship Check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DE2FF"/>
                </a:solidFill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7160B8"/>
          </a:solidFill>
          <a:ln w="12700">
            <a:solidFill>
              <a:srgbClr val="716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image(95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19236"/>
            <a:ext cx="5257800" cy="32708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234440"/>
            <a:ext cx="5257800" cy="3840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1DC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7160B8"/>
                </a:solidFill>
              </a:rPr>
              <a:t>Correlation result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0" y="1691640"/>
            <a:ext cx="480060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62637"/>
                </a:solidFill>
              </a:rPr>
              <a:t>No selected numeric pair showed a strong correlation.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62637"/>
                </a:solidFill>
              </a:rPr>
              <a:t>Largest off-diagonal values were still weak, such as latitude vs longitude around −0.23.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62637"/>
                </a:solidFill>
              </a:rPr>
              <a:t>Speed zone vs severity was very weak, around −0.11.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62637"/>
                </a:solidFill>
              </a:rPr>
              <a:t>This is expected because many fields are category codes rather than continuous measurements.</a:t>
            </a:r>
            <a:endParaRPr lang="en-US" sz="1260" dirty="0"/>
          </a:p>
        </p:txBody>
      </p:sp>
      <p:sp>
        <p:nvSpPr>
          <p:cNvPr id="10" name="Text 7"/>
          <p:cNvSpPr/>
          <p:nvPr/>
        </p:nvSpPr>
        <p:spPr>
          <a:xfrm>
            <a:off x="640080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EC8C5"/>
                </a:solidFill>
              </a:rPr>
              <a:t>Method decision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0" y="44805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5F6070"/>
                </a:solidFill>
              </a:rPr>
              <a:t>For categorical crash data, use “association” rather than “correlation.” Cross-tabulation, heatmaps, severe accident rate and Cramer’s V are more meaningful than Pearson correlation alone.</a:t>
            </a:r>
            <a:endParaRPr lang="en-US" sz="123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264A"/>
          </a:solidFill>
          <a:ln w="12700">
            <a:solidFill>
              <a:srgbClr val="1726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Recommendations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DE2FF"/>
                </a:solidFill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7160B8"/>
          </a:solidFill>
          <a:ln w="12700">
            <a:solidFill>
              <a:srgbClr val="716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9875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F6070"/>
                </a:solidFill>
              </a:rPr>
              <a:t>Recommendations are based on timing, crash mechanism, road environment and hotspot location patterns.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160B8"/>
                </a:solidFill>
              </a:rPr>
              <a:t>Target peak-period risk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562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5F6070"/>
                </a:solidFill>
              </a:rPr>
              <a:t>Focus enforcement, public messaging and congestion management around afternoon peak and Friday travel patterns.</a:t>
            </a:r>
            <a:endParaRPr lang="en-US" sz="117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4389120" cy="0"/>
          </a:xfrm>
          <a:prstGeom prst="line">
            <a:avLst/>
          </a:prstGeom>
          <a:noFill/>
          <a:ln w="17780">
            <a:solidFill>
              <a:srgbClr val="716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8EC8C5"/>
                </a:solidFill>
              </a:rPr>
              <a:t>Reduce rear-end crashes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1821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5F6070"/>
                </a:solidFill>
              </a:rPr>
              <a:t>Promote safe following distance and improve traffic-flow management at congested corridors and signalized approaches.</a:t>
            </a:r>
            <a:endParaRPr lang="en-US" sz="117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0" cy="0"/>
          </a:xfrm>
          <a:prstGeom prst="line">
            <a:avLst/>
          </a:prstGeom>
          <a:noFill/>
          <a:ln w="17780">
            <a:solidFill>
              <a:srgbClr val="8EC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41605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49A84"/>
                </a:solidFill>
              </a:rPr>
              <a:t>Prioritize high-count environments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5079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5F6070"/>
                </a:solidFill>
              </a:rPr>
              <a:t>Investigate 60 km/h corridors, non-intersection segments, cross intersections and T intersections.</a:t>
            </a:r>
            <a:endParaRPr lang="en-US" sz="1170" dirty="0"/>
          </a:p>
        </p:txBody>
      </p:sp>
      <p:sp>
        <p:nvSpPr>
          <p:cNvPr id="15" name="Shape 13"/>
          <p:cNvSpPr/>
          <p:nvPr/>
        </p:nvSpPr>
        <p:spPr>
          <a:xfrm>
            <a:off x="731520" y="5120640"/>
            <a:ext cx="4389120" cy="0"/>
          </a:xfrm>
          <a:prstGeom prst="line">
            <a:avLst/>
          </a:prstGeom>
          <a:noFill/>
          <a:ln w="17780">
            <a:solidFill>
              <a:srgbClr val="D49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1508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64A"/>
                </a:solidFill>
              </a:rPr>
              <a:t>Use hotspot map for safety audits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18562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5F6070"/>
                </a:solidFill>
              </a:rPr>
              <a:t>Prioritize high-frequency nodes, then refine by severe accident rate to avoid relying only on total volume.</a:t>
            </a:r>
            <a:endParaRPr lang="en-US" sz="1170" dirty="0"/>
          </a:p>
        </p:txBody>
      </p:sp>
      <p:sp>
        <p:nvSpPr>
          <p:cNvPr id="18" name="Shape 16"/>
          <p:cNvSpPr/>
          <p:nvPr/>
        </p:nvSpPr>
        <p:spPr>
          <a:xfrm>
            <a:off x="6400800" y="2468880"/>
            <a:ext cx="4389120" cy="0"/>
          </a:xfrm>
          <a:prstGeom prst="line">
            <a:avLst/>
          </a:prstGeom>
          <a:noFill/>
          <a:ln w="17780">
            <a:solidFill>
              <a:srgbClr val="1726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28346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35B52"/>
                </a:solidFill>
              </a:rPr>
              <a:t>Improve environmental treatments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1821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5F6070"/>
                </a:solidFill>
              </a:rPr>
              <a:t>Review lighting, signage, lane marking and visibility around dark or intersection-related severe crash patterns.</a:t>
            </a:r>
            <a:endParaRPr lang="en-US" sz="1170" dirty="0"/>
          </a:p>
        </p:txBody>
      </p:sp>
      <p:sp>
        <p:nvSpPr>
          <p:cNvPr id="21" name="Shape 19"/>
          <p:cNvSpPr/>
          <p:nvPr/>
        </p:nvSpPr>
        <p:spPr>
          <a:xfrm>
            <a:off x="6400800" y="3794760"/>
            <a:ext cx="4389120" cy="0"/>
          </a:xfrm>
          <a:prstGeom prst="line">
            <a:avLst/>
          </a:prstGeom>
          <a:noFill/>
          <a:ln w="17780">
            <a:solidFill>
              <a:srgbClr val="B35B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264A"/>
          </a:solidFill>
          <a:ln w="12700">
            <a:solidFill>
              <a:srgbClr val="1726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Summary &amp; Conclusion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DE2FF"/>
                </a:solidFill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7160B8"/>
          </a:solidFill>
          <a:ln w="12700">
            <a:solidFill>
              <a:srgbClr val="716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7160B8"/>
                </a:solidFill>
              </a:rPr>
              <a:t>Final takeaway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37"/>
                </a:solidFill>
              </a:rPr>
              <a:t>The project transforms raw crash records into a practical road-safety dashboard that identifies crash timing, common causes, severity patterns and hotspot locations.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7432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7160B8"/>
                </a:solidFill>
              </a:rPr>
              <a:t>What was achieved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530352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262637"/>
                </a:solidFill>
              </a:rPr>
              <a:t>Cleaned and validated a 2019–2023 crash dataset.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262637"/>
                </a:solidFill>
              </a:rPr>
              <a:t>Merged location data and created dashboard-ready fields.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262637"/>
                </a:solidFill>
              </a:rPr>
              <a:t>Built a 4-page Power BI report for time, cause, severity and hotspot analysis.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6309360" y="27432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7160B8"/>
                </a:solidFill>
              </a:rPr>
              <a:t>What it enables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09360" y="3200400"/>
            <a:ext cx="530352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262637"/>
                </a:solidFill>
              </a:rPr>
              <a:t>Faster exploration of crash patterns.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262637"/>
                </a:solidFill>
              </a:rPr>
              <a:t>Location-based prioritization through hotspot mapping.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262637"/>
                </a:solidFill>
              </a:rPr>
              <a:t>More focused recommendations for enforcement, infrastructure, lighting, signage and safety audits.</a:t>
            </a:r>
            <a:endParaRPr lang="en-US" sz="123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264A"/>
          </a:solidFill>
          <a:ln w="12700">
            <a:solidFill>
              <a:srgbClr val="1726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Sources &amp; References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DE2FF"/>
                </a:solidFill>
              </a:rPr>
              <a:t>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7160B8"/>
          </a:solidFill>
          <a:ln w="12700">
            <a:solidFill>
              <a:srgbClr val="716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F6070"/>
                </a:solidFill>
              </a:rPr>
              <a:t>References used for dataset definitions, road-safety context and project evidence.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70307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2637"/>
                </a:solidFill>
              </a:rPr>
              <a:t>1. Transport Victoria Open Data — Victoria road crash data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080760" y="170307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F6070"/>
                </a:solidFill>
              </a:rPr>
              <a:t>https://opendata.transport.vic.gov.au/dataset/victoria-road-crash-data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36143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2637"/>
                </a:solidFill>
              </a:rPr>
              <a:t>2. Transport Victoria Open Data — Victorian Road Crash Data: Data Dictionary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80760" y="236143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F6070"/>
                </a:solidFill>
              </a:rPr>
              <a:t>https://opendata.transport.vic.gov.au/dataset/victoria-road-crash-data/resource/5df1f373-0c90-48f5-80e1-7b2a35507134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301980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2637"/>
                </a:solidFill>
              </a:rPr>
              <a:t>3. Transport Victoria Open Data — Accident Location / Node resources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80760" y="3019806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F6070"/>
                </a:solidFill>
              </a:rPr>
              <a:t>https://opendata.transport.vic.gov.au/dataset/victoria-road-crash-data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367817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2637"/>
                </a:solidFill>
              </a:rPr>
              <a:t>4. Victorian Road Safety Strategy 2021–2030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80760" y="367817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F6070"/>
                </a:solidFill>
              </a:rPr>
              <a:t>https://www.tac.vic.gov.au/road-safety/victorian-road-safety-strategy/victorian-road-safety-strategy-2021-2030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7240" y="433654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2637"/>
                </a:solidFill>
              </a:rPr>
              <a:t>5. National Road Safety Strategy 2021–2030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80760" y="433654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F6070"/>
                </a:solidFill>
              </a:rPr>
              <a:t>https://www.roadsafety.gov.au/nrss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5800" y="5989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7264A"/>
                </a:solidFill>
              </a:rPr>
              <a:t>Thank you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</TotalTime>
  <Words>2008</Words>
  <Application>Microsoft Office PowerPoint</Application>
  <PresentationFormat>Widescreen</PresentationFormat>
  <Paragraphs>263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Purwadhika / Capstone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Victoria Crash Data Dashboard 2019-2023</dc:title>
  <dc:subject>Victoria Crash Data Dashboard 2019-2023 Capstone Presentation</dc:subject>
  <dc:creator>Reyhan Todo Noer Yamin</dc:creator>
  <cp:lastModifiedBy>Reyhan Todo Noer Yamin</cp:lastModifiedBy>
  <cp:revision>27</cp:revision>
  <dcterms:created xsi:type="dcterms:W3CDTF">2026-06-09T12:07:27Z</dcterms:created>
  <dcterms:modified xsi:type="dcterms:W3CDTF">2026-06-09T12:49:36Z</dcterms:modified>
</cp:coreProperties>
</file>